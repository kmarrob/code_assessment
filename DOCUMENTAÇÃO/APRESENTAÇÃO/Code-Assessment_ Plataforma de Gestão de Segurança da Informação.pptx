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60" r:id="rId2"/>
  </p:sldMasterIdLst>
  <p:notesMasterIdLst>
    <p:notesMasterId r:id="rId4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</p:sldIdLst>
  <p:sldSz cx="12192000" cy="6858000"/>
  <p:notesSz cx="6858000" cy="12192000"/>
  <p:embeddedFontLst>
    <p:embeddedFont>
      <p:font typeface="Inter" panose="020B0604020202020204" charset="0"/>
      <p:regular r:id="rId46"/>
    </p:embeddedFont>
    <p:embeddedFont>
      <p:font typeface="Noto Sans" panose="020B0502040504020204" pitchFamily="34" charset="0"/>
      <p:regular r:id="rId4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70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font" Target="fonts/font2.fntdata"/><Relationship Id="rId50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font" Target="fonts/font1.fntdata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0306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C2B744-1F5D-C043-301E-FDD5B51129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55DFE12-9F2D-5C02-CB4E-F751FE8F5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6BD3A4-947F-334B-D97A-4F9F3DD18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‹nº›</a:t>
            </a:fld>
            <a:endParaRPr kumimoji="1" lang="zh-CN" altLang="en-US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8DA27964-DA5E-AB74-68D6-3BA165104350}"/>
              </a:ext>
            </a:extLst>
          </p:cNvPr>
          <p:cNvSpPr/>
          <p:nvPr userDrawn="1"/>
        </p:nvSpPr>
        <p:spPr>
          <a:xfrm>
            <a:off x="930658" y="6429607"/>
            <a:ext cx="5102352" cy="2286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dirty="0">
                <a:solidFill>
                  <a:srgbClr val="1E53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Code_Assessment: Plataforma de Gestão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328552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8D0380-950D-0EB3-F821-03F4508FB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035F00-FD85-51C4-43B5-7F049F5901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1B2DB4-D29F-9C6A-5999-72150C15B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2026/7/27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B74DC32-465E-F753-963C-7B7C96850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EBFEF8-E4F3-D916-581F-219CD8410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‹nº›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55085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9207A4-E570-9A26-41C4-3ABA7F385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C78DFE1-769D-C827-9998-F44CEA38FC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1AAB41-3DDB-1920-EDE7-45768C2B8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2026/7/27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B322CD-8F7B-88BA-A2A3-A3A458215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033F1C7-D3F0-2A37-B94E-239E84477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‹nº›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74634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3A0752-9F6C-2508-AE2B-3F7A7EF36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D9CC9D8-3C56-F907-B56A-E5B8589E5D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0C444C7-103E-FD3F-090E-FDB5759D2C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F217FCF-2142-E0CA-6C18-6C95D4342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2026/7/27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64D8E9F-253E-1D82-97A9-15CA65474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D77128A-737C-CA38-3862-20CEA44F6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‹nº›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29208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C56D1A-FB16-5E31-A106-DCF02DAC9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AB02E7C-260D-60C5-FCCA-DFC01F1420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2BAA659-ACC6-6F45-429A-9678890E78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13D315E-F577-54BA-0BC7-11B2F9E497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3699DE7-3CB8-893F-47F6-D80F369F8B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B0DFB00-0D40-DE77-E458-EEAD8647A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2026/7/27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E3B62EA-C11C-ED4C-E412-13015E94D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0B67572-C038-B8EE-3F4A-66F2EB5BC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‹nº›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07959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9ACFB3-6E7C-10C3-4227-DCC235908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DEFDC94-EB77-1206-3206-1B33F78EA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2026/7/27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AFB27BA-C6C4-956D-BB12-8D4F16B5C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DD0AACD-7B23-7A5E-6C34-7DCB44F64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‹nº›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62499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E546190-2158-46F8-6A32-12FE189EC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2026/7/27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D3512C2-3838-72C2-51DD-8E9040126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6007A5F-B186-54C0-5D19-2284F293A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‹nº›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17751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B735BD-C3BB-8927-3AF4-94F9438CB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616762-3893-E59B-CB9B-C02C1AA3B6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70AA56D-7451-C3C5-6D51-B2650A4541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628E855-990E-30E6-3512-97221C46C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2026/7/27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47DA99E-7FBF-A00D-442B-2D8D7E789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51B805B-BFA9-DDA6-CEEA-6ADEA1A0E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‹nº›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6919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7BD84F-84C9-AF27-1A59-8346212BD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BB0A76F-B479-8050-2AD7-B9A011F11B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E0EFA31-6C28-3C82-9363-FE2CAD862A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E00E6CE-098C-0ED3-86A0-E120929DD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2026/7/27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50CC86E-6091-D81E-FA00-BF21FA580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3DE2F81-7731-1152-9792-87A036E1A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‹nº›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08534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11DD4-0674-E844-9E12-5F2805D47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0F851AA-3284-5ED7-C023-2D29A38989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1C3777-D1E7-BA80-B662-AF007330B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2026/7/27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D95CC9-AF53-F0AA-FD40-F3E2CCEC5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D1B16D-B121-595D-C223-CB5F9D124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‹nº›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33416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10C1838-1DC8-7579-5F22-B30187479B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D670889-BEC7-D29F-E1AC-BF218674A2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15CB33-44D0-A76C-3FF3-EEA9A801C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2026/7/27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78635D-6139-9A84-B3F9-9BCA80355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941DB96-ECF2-C664-F90E-E7B4E08A6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‹nº›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53390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C2B744-1F5D-C043-301E-FDD5B51129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55DFE12-9F2D-5C02-CB4E-F751FE8F5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6BD3A4-947F-334B-D97A-4F9F3DD18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320602D-AD6A-214B-ACCA-D81B2D28FAA5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2997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6C56813-2AEB-CC25-B5BE-39156AC4A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D5FFF8B-ED7D-4F9C-5CD8-CC3E43D1D7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1D59E3-C823-D4DA-54BF-4D8DB9BF0F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EDBEE3-4AC2-F046-910D-39992CB67F1C}" type="datetimeFigureOut">
              <a:rPr kumimoji="1" lang="zh-CN" altLang="en-US" smtClean="0"/>
              <a:t>2026/7/27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C1EF5F-1486-06C8-051E-7B825CAD54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6A3C8D-E9F0-A63A-F26B-7851D262D8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20602D-AD6A-214B-ACCA-D81B2D28FAA5}" type="slidenum">
              <a:rPr kumimoji="1" lang="zh-CN" altLang="en-US" smtClean="0"/>
              <a:t>‹nº›</a:t>
            </a:fld>
            <a:endParaRPr kumimoji="1" lang="zh-CN" altLang="en-US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51806B3C-F7C2-87BC-5418-1F77116CDE12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233636" y="6259052"/>
            <a:ext cx="515067" cy="559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459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6C56813-2AEB-CC25-B5BE-39156AC4A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D5FFF8B-ED7D-4F9C-5CD8-CC3E43D1D7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C1EF5F-1486-06C8-051E-7B825CAD54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36434" y="6356350"/>
            <a:ext cx="72169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6A3C8D-E9F0-A63A-F26B-7851D262D8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320602D-AD6A-214B-ACCA-D81B2D28FAA5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7AD9F5F5-8F6B-E9A0-4F6C-E7A27C4CDE7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3636" y="6259052"/>
            <a:ext cx="515067" cy="559720"/>
          </a:xfrm>
          <a:prstGeom prst="rect">
            <a:avLst/>
          </a:prstGeom>
        </p:spPr>
      </p:pic>
      <p:sp>
        <p:nvSpPr>
          <p:cNvPr id="12" name="Text 2">
            <a:extLst>
              <a:ext uri="{FF2B5EF4-FFF2-40B4-BE49-F238E27FC236}">
                <a16:creationId xmlns:a16="http://schemas.microsoft.com/office/drawing/2014/main" id="{E789DB66-AA72-C67C-01E6-7B7169BE7547}"/>
              </a:ext>
            </a:extLst>
          </p:cNvPr>
          <p:cNvSpPr/>
          <p:nvPr userDrawn="1"/>
        </p:nvSpPr>
        <p:spPr>
          <a:xfrm>
            <a:off x="1095911" y="6429607"/>
            <a:ext cx="5102352" cy="2286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dirty="0">
                <a:solidFill>
                  <a:srgbClr val="1E53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Code_Assessment: Plataforma de Gestão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3685780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13.png"/><Relationship Id="rId4" Type="http://schemas.openxmlformats.org/officeDocument/2006/relationships/image" Target="../media/image34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244683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952500" y="1428750"/>
            <a:ext cx="10287000" cy="4000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952500" y="1457325"/>
            <a:ext cx="10287000" cy="0"/>
          </a:xfrm>
          <a:prstGeom prst="line">
            <a:avLst/>
          </a:prstGeom>
          <a:noFill/>
          <a:ln w="57150">
            <a:solidFill>
              <a:srgbClr val="1E535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11239500" y="1428750"/>
            <a:ext cx="0" cy="4000500"/>
          </a:xfrm>
          <a:prstGeom prst="line">
            <a:avLst/>
          </a:prstGeom>
          <a:noFill/>
          <a:ln w="9525">
            <a:solidFill>
              <a:srgbClr val="30736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952500" y="5400675"/>
            <a:ext cx="10287000" cy="0"/>
          </a:xfrm>
          <a:prstGeom prst="line">
            <a:avLst/>
          </a:prstGeom>
          <a:noFill/>
          <a:ln w="57150">
            <a:solidFill>
              <a:srgbClr val="1E535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952500" y="1428750"/>
            <a:ext cx="0" cy="4000500"/>
          </a:xfrm>
          <a:prstGeom prst="line">
            <a:avLst/>
          </a:prstGeom>
          <a:noFill/>
          <a:ln w="9525">
            <a:solidFill>
              <a:srgbClr val="30736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343025" y="1787872"/>
            <a:ext cx="9610344" cy="96926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780"/>
              </a:lnSpc>
              <a:buNone/>
            </a:pPr>
            <a:r>
              <a:rPr lang="en-US" sz="3150" b="1" kern="0" spc="30" dirty="0">
                <a:solidFill>
                  <a:srgbClr val="122A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Code_Assessment: Plataforma de Gestão de Segurança da Informação</a:t>
            </a:r>
            <a:endParaRPr lang="en-US" sz="3150" dirty="0"/>
          </a:p>
        </p:txBody>
      </p:sp>
      <p:sp>
        <p:nvSpPr>
          <p:cNvPr id="9" name="Text 7"/>
          <p:cNvSpPr/>
          <p:nvPr/>
        </p:nvSpPr>
        <p:spPr>
          <a:xfrm>
            <a:off x="2923223" y="2891730"/>
            <a:ext cx="6419088" cy="4023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07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Excelência em Cibersegurança e Conformidade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5715000" y="3587055"/>
            <a:ext cx="762000" cy="28575"/>
          </a:xfrm>
          <a:prstGeom prst="rect">
            <a:avLst/>
          </a:prstGeom>
          <a:solidFill>
            <a:srgbClr val="1E535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286000" y="3947071"/>
            <a:ext cx="7671816" cy="55778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sz="1350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Protegendo ativos digitais através de avaliação contínua de vulnerabilidades e governança estratégica de dados corporativos.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224338" y="4878586"/>
            <a:ext cx="2139696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kern="0" spc="150" dirty="0">
                <a:solidFill>
                  <a:srgbClr val="1E53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 DE JULHO DE 2026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62738" y="4878586"/>
            <a:ext cx="1371600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kern="0" spc="150" dirty="0">
                <a:solidFill>
                  <a:srgbClr val="1E53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VERSÃO FINAL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7477125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3429000" y="847725"/>
            <a:ext cx="8382000" cy="0"/>
          </a:xfrm>
          <a:prstGeom prst="line">
            <a:avLst/>
          </a:prstGeom>
          <a:noFill/>
          <a:ln w="19050">
            <a:solidFill>
              <a:srgbClr val="1E535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3429000" y="381000"/>
            <a:ext cx="1353312" cy="4023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122A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SUMÁRIO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1020425" y="581025"/>
            <a:ext cx="841248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50" dirty="0">
                <a:solidFill>
                  <a:srgbClr val="1E53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 Capítulos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429000" y="1095375"/>
            <a:ext cx="0" cy="619125"/>
          </a:xfrm>
          <a:prstGeom prst="line">
            <a:avLst/>
          </a:prstGeom>
          <a:noFill/>
          <a:ln w="19050">
            <a:solidFill>
              <a:srgbClr val="30736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3524250" y="1184970"/>
            <a:ext cx="1536192" cy="21031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307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524250" y="1385888"/>
            <a:ext cx="1499616" cy="246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788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Code_Assessment - Avaliação e Gestão de Segurança</a:t>
            </a:r>
            <a:endParaRPr lang="en-US" sz="788" dirty="0"/>
          </a:p>
        </p:txBody>
      </p:sp>
      <p:sp>
        <p:nvSpPr>
          <p:cNvPr id="9" name="Shape 7"/>
          <p:cNvSpPr/>
          <p:nvPr/>
        </p:nvSpPr>
        <p:spPr>
          <a:xfrm>
            <a:off x="5133975" y="1095375"/>
            <a:ext cx="0" cy="619125"/>
          </a:xfrm>
          <a:prstGeom prst="line">
            <a:avLst/>
          </a:prstGeom>
          <a:noFill/>
          <a:ln w="19050">
            <a:solidFill>
              <a:srgbClr val="30736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229225" y="1244947"/>
            <a:ext cx="1536192" cy="21031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307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229225" y="1443038"/>
            <a:ext cx="1527048" cy="1554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788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Sumário Executivo</a:t>
            </a:r>
            <a:endParaRPr lang="en-US" sz="788" dirty="0"/>
          </a:p>
        </p:txBody>
      </p:sp>
      <p:sp>
        <p:nvSpPr>
          <p:cNvPr id="12" name="Shape 10"/>
          <p:cNvSpPr/>
          <p:nvPr/>
        </p:nvSpPr>
        <p:spPr>
          <a:xfrm>
            <a:off x="6838950" y="1095375"/>
            <a:ext cx="0" cy="619125"/>
          </a:xfrm>
          <a:prstGeom prst="line">
            <a:avLst/>
          </a:prstGeom>
          <a:noFill/>
          <a:ln w="19050">
            <a:solidFill>
              <a:srgbClr val="30736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934200" y="1184970"/>
            <a:ext cx="1536192" cy="21031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307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34200" y="1385888"/>
            <a:ext cx="1499616" cy="246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788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Visão Executiva: Plataforma SaaS</a:t>
            </a:r>
            <a:endParaRPr lang="en-US" sz="788" dirty="0"/>
          </a:p>
        </p:txBody>
      </p:sp>
      <p:sp>
        <p:nvSpPr>
          <p:cNvPr id="15" name="Shape 13"/>
          <p:cNvSpPr/>
          <p:nvPr/>
        </p:nvSpPr>
        <p:spPr>
          <a:xfrm>
            <a:off x="8543925" y="1095375"/>
            <a:ext cx="0" cy="619125"/>
          </a:xfrm>
          <a:prstGeom prst="line">
            <a:avLst/>
          </a:prstGeom>
          <a:noFill/>
          <a:ln w="19050">
            <a:solidFill>
              <a:srgbClr val="30736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8639175" y="1184970"/>
            <a:ext cx="1536192" cy="21031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307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04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639175" y="1385888"/>
            <a:ext cx="1499616" cy="246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788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Visão Executiva: Transformação Digital</a:t>
            </a:r>
            <a:endParaRPr lang="en-US" sz="788" dirty="0"/>
          </a:p>
        </p:txBody>
      </p:sp>
      <p:sp>
        <p:nvSpPr>
          <p:cNvPr id="18" name="Shape 16"/>
          <p:cNvSpPr/>
          <p:nvPr/>
        </p:nvSpPr>
        <p:spPr>
          <a:xfrm>
            <a:off x="10248900" y="1095375"/>
            <a:ext cx="0" cy="619125"/>
          </a:xfrm>
          <a:prstGeom prst="line">
            <a:avLst/>
          </a:prstGeom>
          <a:noFill/>
          <a:ln w="19050">
            <a:solidFill>
              <a:srgbClr val="30736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10344150" y="1244947"/>
            <a:ext cx="1536192" cy="21031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307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05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0344150" y="1443038"/>
            <a:ext cx="1527048" cy="1554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788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Objetivo Central da Plataforma</a:t>
            </a:r>
            <a:endParaRPr lang="en-US" sz="788" dirty="0"/>
          </a:p>
        </p:txBody>
      </p:sp>
      <p:sp>
        <p:nvSpPr>
          <p:cNvPr id="21" name="Shape 19"/>
          <p:cNvSpPr/>
          <p:nvPr/>
        </p:nvSpPr>
        <p:spPr>
          <a:xfrm>
            <a:off x="3429000" y="1857375"/>
            <a:ext cx="0" cy="619125"/>
          </a:xfrm>
          <a:prstGeom prst="line">
            <a:avLst/>
          </a:prstGeom>
          <a:noFill/>
          <a:ln w="19050">
            <a:solidFill>
              <a:srgbClr val="30736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3524250" y="1946970"/>
            <a:ext cx="1536192" cy="21031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307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06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524250" y="2147888"/>
            <a:ext cx="1499616" cy="246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788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Alinhamento Normativo e Frameworks</a:t>
            </a:r>
            <a:endParaRPr lang="en-US" sz="788" dirty="0"/>
          </a:p>
        </p:txBody>
      </p:sp>
      <p:sp>
        <p:nvSpPr>
          <p:cNvPr id="24" name="Shape 22"/>
          <p:cNvSpPr/>
          <p:nvPr/>
        </p:nvSpPr>
        <p:spPr>
          <a:xfrm>
            <a:off x="5133975" y="1857375"/>
            <a:ext cx="0" cy="619125"/>
          </a:xfrm>
          <a:prstGeom prst="line">
            <a:avLst/>
          </a:prstGeom>
          <a:noFill/>
          <a:ln w="19050">
            <a:solidFill>
              <a:srgbClr val="30736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5229225" y="1946970"/>
            <a:ext cx="1536192" cy="21031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307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07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229225" y="2147888"/>
            <a:ext cx="1499616" cy="246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788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Problema: Fragmentação de Dados</a:t>
            </a:r>
            <a:endParaRPr lang="en-US" sz="788" dirty="0"/>
          </a:p>
        </p:txBody>
      </p:sp>
      <p:sp>
        <p:nvSpPr>
          <p:cNvPr id="27" name="Shape 25"/>
          <p:cNvSpPr/>
          <p:nvPr/>
        </p:nvSpPr>
        <p:spPr>
          <a:xfrm>
            <a:off x="6838950" y="1857375"/>
            <a:ext cx="0" cy="619125"/>
          </a:xfrm>
          <a:prstGeom prst="line">
            <a:avLst/>
          </a:prstGeom>
          <a:noFill/>
          <a:ln w="19050">
            <a:solidFill>
              <a:srgbClr val="30736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6934200" y="1946970"/>
            <a:ext cx="1536192" cy="21031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307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08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934200" y="2147888"/>
            <a:ext cx="1499616" cy="246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788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Impacto 1: Falta de Rastreabilidade</a:t>
            </a:r>
            <a:endParaRPr lang="en-US" sz="788" dirty="0"/>
          </a:p>
        </p:txBody>
      </p:sp>
      <p:sp>
        <p:nvSpPr>
          <p:cNvPr id="30" name="Shape 28"/>
          <p:cNvSpPr/>
          <p:nvPr/>
        </p:nvSpPr>
        <p:spPr>
          <a:xfrm>
            <a:off x="8543925" y="1857375"/>
            <a:ext cx="0" cy="619125"/>
          </a:xfrm>
          <a:prstGeom prst="line">
            <a:avLst/>
          </a:prstGeom>
          <a:noFill/>
          <a:ln w="19050">
            <a:solidFill>
              <a:srgbClr val="30736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8639175" y="1946970"/>
            <a:ext cx="1536192" cy="21031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307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09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639175" y="2147888"/>
            <a:ext cx="1499616" cy="246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788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Impacto 2: Evidências Dispersas</a:t>
            </a:r>
            <a:endParaRPr lang="en-US" sz="788" dirty="0"/>
          </a:p>
        </p:txBody>
      </p:sp>
      <p:sp>
        <p:nvSpPr>
          <p:cNvPr id="33" name="Shape 31"/>
          <p:cNvSpPr/>
          <p:nvPr/>
        </p:nvSpPr>
        <p:spPr>
          <a:xfrm>
            <a:off x="10248900" y="1857375"/>
            <a:ext cx="0" cy="619125"/>
          </a:xfrm>
          <a:prstGeom prst="line">
            <a:avLst/>
          </a:prstGeom>
          <a:noFill/>
          <a:ln w="19050">
            <a:solidFill>
              <a:srgbClr val="30736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10344150" y="2006947"/>
            <a:ext cx="1536192" cy="21031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307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0344150" y="2205038"/>
            <a:ext cx="1527048" cy="1554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788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Impacto 3: Relatórios Manuais</a:t>
            </a:r>
            <a:endParaRPr lang="en-US" sz="788" dirty="0"/>
          </a:p>
        </p:txBody>
      </p:sp>
      <p:sp>
        <p:nvSpPr>
          <p:cNvPr id="36" name="Shape 34"/>
          <p:cNvSpPr/>
          <p:nvPr/>
        </p:nvSpPr>
        <p:spPr>
          <a:xfrm>
            <a:off x="3429000" y="2619375"/>
            <a:ext cx="0" cy="619125"/>
          </a:xfrm>
          <a:prstGeom prst="line">
            <a:avLst/>
          </a:prstGeom>
          <a:noFill/>
          <a:ln w="19050">
            <a:solidFill>
              <a:srgbClr val="30736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3524250" y="2768947"/>
            <a:ext cx="1536192" cy="21031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307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11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524250" y="2967038"/>
            <a:ext cx="1527048" cy="1554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788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Solução: Code_Assessment</a:t>
            </a:r>
            <a:endParaRPr lang="en-US" sz="788" dirty="0"/>
          </a:p>
        </p:txBody>
      </p:sp>
      <p:sp>
        <p:nvSpPr>
          <p:cNvPr id="39" name="Shape 37"/>
          <p:cNvSpPr/>
          <p:nvPr/>
        </p:nvSpPr>
        <p:spPr>
          <a:xfrm>
            <a:off x="5133975" y="2619375"/>
            <a:ext cx="0" cy="619125"/>
          </a:xfrm>
          <a:prstGeom prst="line">
            <a:avLst/>
          </a:prstGeom>
          <a:noFill/>
          <a:ln w="19050">
            <a:solidFill>
              <a:srgbClr val="30736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Text 38"/>
          <p:cNvSpPr/>
          <p:nvPr/>
        </p:nvSpPr>
        <p:spPr>
          <a:xfrm>
            <a:off x="5229225" y="2708970"/>
            <a:ext cx="1536192" cy="21031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307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12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229225" y="2909888"/>
            <a:ext cx="1499616" cy="246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788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Ciclo de Avaliação: Etapas Iniciais</a:t>
            </a:r>
            <a:endParaRPr lang="en-US" sz="788" dirty="0"/>
          </a:p>
        </p:txBody>
      </p:sp>
      <p:sp>
        <p:nvSpPr>
          <p:cNvPr id="42" name="Shape 40"/>
          <p:cNvSpPr/>
          <p:nvPr/>
        </p:nvSpPr>
        <p:spPr>
          <a:xfrm>
            <a:off x="6838950" y="2619375"/>
            <a:ext cx="0" cy="619125"/>
          </a:xfrm>
          <a:prstGeom prst="line">
            <a:avLst/>
          </a:prstGeom>
          <a:noFill/>
          <a:ln w="19050">
            <a:solidFill>
              <a:srgbClr val="30736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3" name="Text 41"/>
          <p:cNvSpPr/>
          <p:nvPr/>
        </p:nvSpPr>
        <p:spPr>
          <a:xfrm>
            <a:off x="6934200" y="2768947"/>
            <a:ext cx="1536192" cy="21031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307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13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934200" y="2967038"/>
            <a:ext cx="1527048" cy="1554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788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Ciclo de Avaliação: Conclusão</a:t>
            </a:r>
            <a:endParaRPr lang="en-US" sz="788" dirty="0"/>
          </a:p>
        </p:txBody>
      </p:sp>
      <p:sp>
        <p:nvSpPr>
          <p:cNvPr id="45" name="Shape 43"/>
          <p:cNvSpPr/>
          <p:nvPr/>
        </p:nvSpPr>
        <p:spPr>
          <a:xfrm>
            <a:off x="8543925" y="2619375"/>
            <a:ext cx="0" cy="619125"/>
          </a:xfrm>
          <a:prstGeom prst="line">
            <a:avLst/>
          </a:prstGeom>
          <a:noFill/>
          <a:ln w="19050">
            <a:solidFill>
              <a:srgbClr val="30736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6" name="Text 44"/>
          <p:cNvSpPr/>
          <p:nvPr/>
        </p:nvSpPr>
        <p:spPr>
          <a:xfrm>
            <a:off x="8639175" y="2708970"/>
            <a:ext cx="1536192" cy="21031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307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14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8639175" y="2909888"/>
            <a:ext cx="1499616" cy="246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788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Arquitetura Organizacional e Perfis</a:t>
            </a:r>
            <a:endParaRPr lang="en-US" sz="788" dirty="0"/>
          </a:p>
        </p:txBody>
      </p:sp>
      <p:sp>
        <p:nvSpPr>
          <p:cNvPr id="48" name="Shape 46"/>
          <p:cNvSpPr/>
          <p:nvPr/>
        </p:nvSpPr>
        <p:spPr>
          <a:xfrm>
            <a:off x="10248900" y="2619375"/>
            <a:ext cx="0" cy="619125"/>
          </a:xfrm>
          <a:prstGeom prst="line">
            <a:avLst/>
          </a:prstGeom>
          <a:noFill/>
          <a:ln w="19050">
            <a:solidFill>
              <a:srgbClr val="30736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9" name="Text 47"/>
          <p:cNvSpPr/>
          <p:nvPr/>
        </p:nvSpPr>
        <p:spPr>
          <a:xfrm>
            <a:off x="10344150" y="2708970"/>
            <a:ext cx="1536192" cy="21031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307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15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10344150" y="2909888"/>
            <a:ext cx="1499616" cy="246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788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Funcionalidades: Perfil Administrador</a:t>
            </a:r>
            <a:endParaRPr lang="en-US" sz="788" dirty="0"/>
          </a:p>
        </p:txBody>
      </p:sp>
      <p:sp>
        <p:nvSpPr>
          <p:cNvPr id="51" name="Shape 49"/>
          <p:cNvSpPr/>
          <p:nvPr/>
        </p:nvSpPr>
        <p:spPr>
          <a:xfrm>
            <a:off x="3429000" y="3381375"/>
            <a:ext cx="0" cy="619125"/>
          </a:xfrm>
          <a:prstGeom prst="line">
            <a:avLst/>
          </a:prstGeom>
          <a:noFill/>
          <a:ln w="19050">
            <a:solidFill>
              <a:srgbClr val="30736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2" name="Text 50"/>
          <p:cNvSpPr/>
          <p:nvPr/>
        </p:nvSpPr>
        <p:spPr>
          <a:xfrm>
            <a:off x="3524250" y="3470970"/>
            <a:ext cx="1536192" cy="21031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307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16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3524250" y="3671888"/>
            <a:ext cx="1499616" cy="246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788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Funcionalidades: Perfil Consultor</a:t>
            </a:r>
            <a:endParaRPr lang="en-US" sz="788" dirty="0"/>
          </a:p>
        </p:txBody>
      </p:sp>
      <p:sp>
        <p:nvSpPr>
          <p:cNvPr id="54" name="Shape 52"/>
          <p:cNvSpPr/>
          <p:nvPr/>
        </p:nvSpPr>
        <p:spPr>
          <a:xfrm>
            <a:off x="5133975" y="3381375"/>
            <a:ext cx="0" cy="619125"/>
          </a:xfrm>
          <a:prstGeom prst="line">
            <a:avLst/>
          </a:prstGeom>
          <a:noFill/>
          <a:ln w="19050">
            <a:solidFill>
              <a:srgbClr val="30736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5" name="Text 53"/>
          <p:cNvSpPr/>
          <p:nvPr/>
        </p:nvSpPr>
        <p:spPr>
          <a:xfrm>
            <a:off x="5229225" y="3470970"/>
            <a:ext cx="1536192" cy="21031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307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17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5229225" y="3671888"/>
            <a:ext cx="1499616" cy="246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788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Funcionalidades: Perfil Preposto</a:t>
            </a:r>
            <a:endParaRPr lang="en-US" sz="788" dirty="0"/>
          </a:p>
        </p:txBody>
      </p:sp>
      <p:sp>
        <p:nvSpPr>
          <p:cNvPr id="57" name="Shape 55"/>
          <p:cNvSpPr/>
          <p:nvPr/>
        </p:nvSpPr>
        <p:spPr>
          <a:xfrm>
            <a:off x="6838950" y="3381375"/>
            <a:ext cx="0" cy="619125"/>
          </a:xfrm>
          <a:prstGeom prst="line">
            <a:avLst/>
          </a:prstGeom>
          <a:noFill/>
          <a:ln w="19050">
            <a:solidFill>
              <a:srgbClr val="30736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8" name="Text 56"/>
          <p:cNvSpPr/>
          <p:nvPr/>
        </p:nvSpPr>
        <p:spPr>
          <a:xfrm>
            <a:off x="6934200" y="3470970"/>
            <a:ext cx="1536192" cy="21031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307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18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6934200" y="3671888"/>
            <a:ext cx="1499616" cy="246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788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Diferencial: Distribuição de Responsabilidade</a:t>
            </a:r>
            <a:endParaRPr lang="en-US" sz="788" dirty="0"/>
          </a:p>
        </p:txBody>
      </p:sp>
      <p:sp>
        <p:nvSpPr>
          <p:cNvPr id="60" name="Shape 58"/>
          <p:cNvSpPr/>
          <p:nvPr/>
        </p:nvSpPr>
        <p:spPr>
          <a:xfrm>
            <a:off x="8543925" y="3381375"/>
            <a:ext cx="0" cy="619125"/>
          </a:xfrm>
          <a:prstGeom prst="line">
            <a:avLst/>
          </a:prstGeom>
          <a:noFill/>
          <a:ln w="19050">
            <a:solidFill>
              <a:srgbClr val="30736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1" name="Text 59"/>
          <p:cNvSpPr/>
          <p:nvPr/>
        </p:nvSpPr>
        <p:spPr>
          <a:xfrm>
            <a:off x="8639175" y="3530947"/>
            <a:ext cx="1536192" cy="21031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307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19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8639175" y="3729038"/>
            <a:ext cx="1527048" cy="1554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788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Metodológica: ISO 27001</a:t>
            </a:r>
            <a:endParaRPr lang="en-US" sz="788" dirty="0"/>
          </a:p>
        </p:txBody>
      </p:sp>
      <p:sp>
        <p:nvSpPr>
          <p:cNvPr id="63" name="Shape 61"/>
          <p:cNvSpPr/>
          <p:nvPr/>
        </p:nvSpPr>
        <p:spPr>
          <a:xfrm>
            <a:off x="10248900" y="3381375"/>
            <a:ext cx="0" cy="619125"/>
          </a:xfrm>
          <a:prstGeom prst="line">
            <a:avLst/>
          </a:prstGeom>
          <a:noFill/>
          <a:ln w="19050">
            <a:solidFill>
              <a:srgbClr val="30736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4" name="Text 62"/>
          <p:cNvSpPr/>
          <p:nvPr/>
        </p:nvSpPr>
        <p:spPr>
          <a:xfrm>
            <a:off x="10344150" y="3530947"/>
            <a:ext cx="1536192" cy="21031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307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10344150" y="3729038"/>
            <a:ext cx="1527048" cy="1554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788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Metodológica: ISO 27002</a:t>
            </a:r>
            <a:endParaRPr lang="en-US" sz="788" dirty="0"/>
          </a:p>
        </p:txBody>
      </p:sp>
      <p:sp>
        <p:nvSpPr>
          <p:cNvPr id="66" name="Shape 64"/>
          <p:cNvSpPr/>
          <p:nvPr/>
        </p:nvSpPr>
        <p:spPr>
          <a:xfrm>
            <a:off x="3429000" y="4143375"/>
            <a:ext cx="0" cy="619125"/>
          </a:xfrm>
          <a:prstGeom prst="line">
            <a:avLst/>
          </a:prstGeom>
          <a:noFill/>
          <a:ln w="19050">
            <a:solidFill>
              <a:srgbClr val="30736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7" name="Text 65"/>
          <p:cNvSpPr/>
          <p:nvPr/>
        </p:nvSpPr>
        <p:spPr>
          <a:xfrm>
            <a:off x="3524250" y="4232970"/>
            <a:ext cx="1536192" cy="21031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307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21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3524250" y="4433888"/>
            <a:ext cx="1499616" cy="246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788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Como Funciona: Cadastro e Escopo</a:t>
            </a:r>
            <a:endParaRPr lang="en-US" sz="788" dirty="0"/>
          </a:p>
        </p:txBody>
      </p:sp>
      <p:sp>
        <p:nvSpPr>
          <p:cNvPr id="69" name="Shape 67"/>
          <p:cNvSpPr/>
          <p:nvPr/>
        </p:nvSpPr>
        <p:spPr>
          <a:xfrm>
            <a:off x="5133975" y="4143375"/>
            <a:ext cx="0" cy="619125"/>
          </a:xfrm>
          <a:prstGeom prst="line">
            <a:avLst/>
          </a:prstGeom>
          <a:noFill/>
          <a:ln w="19050">
            <a:solidFill>
              <a:srgbClr val="30736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0" name="Text 68"/>
          <p:cNvSpPr/>
          <p:nvPr/>
        </p:nvSpPr>
        <p:spPr>
          <a:xfrm>
            <a:off x="5229225" y="4232970"/>
            <a:ext cx="1536192" cy="21031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307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22</a:t>
            </a:r>
            <a:endParaRPr lang="en-US" sz="1050" dirty="0"/>
          </a:p>
        </p:txBody>
      </p:sp>
      <p:sp>
        <p:nvSpPr>
          <p:cNvPr id="71" name="Text 69"/>
          <p:cNvSpPr/>
          <p:nvPr/>
        </p:nvSpPr>
        <p:spPr>
          <a:xfrm>
            <a:off x="5229225" y="4433888"/>
            <a:ext cx="1499616" cy="246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788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Como Funciona: Distribuição e Avaliação</a:t>
            </a:r>
            <a:endParaRPr lang="en-US" sz="788" dirty="0"/>
          </a:p>
        </p:txBody>
      </p:sp>
      <p:sp>
        <p:nvSpPr>
          <p:cNvPr id="72" name="Shape 70"/>
          <p:cNvSpPr/>
          <p:nvPr/>
        </p:nvSpPr>
        <p:spPr>
          <a:xfrm>
            <a:off x="6838950" y="4143375"/>
            <a:ext cx="0" cy="619125"/>
          </a:xfrm>
          <a:prstGeom prst="line">
            <a:avLst/>
          </a:prstGeom>
          <a:noFill/>
          <a:ln w="19050">
            <a:solidFill>
              <a:srgbClr val="30736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3" name="Text 71"/>
          <p:cNvSpPr/>
          <p:nvPr/>
        </p:nvSpPr>
        <p:spPr>
          <a:xfrm>
            <a:off x="6934200" y="4232970"/>
            <a:ext cx="1536192" cy="21031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307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23</a:t>
            </a:r>
            <a:endParaRPr lang="en-US" sz="1050" dirty="0"/>
          </a:p>
        </p:txBody>
      </p:sp>
      <p:sp>
        <p:nvSpPr>
          <p:cNvPr id="74" name="Text 72"/>
          <p:cNvSpPr/>
          <p:nvPr/>
        </p:nvSpPr>
        <p:spPr>
          <a:xfrm>
            <a:off x="6934200" y="4433888"/>
            <a:ext cx="1499616" cy="246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788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Como Funciona: Evidências e Análise</a:t>
            </a:r>
            <a:endParaRPr lang="en-US" sz="788" dirty="0"/>
          </a:p>
        </p:txBody>
      </p:sp>
      <p:sp>
        <p:nvSpPr>
          <p:cNvPr id="75" name="Shape 73"/>
          <p:cNvSpPr/>
          <p:nvPr/>
        </p:nvSpPr>
        <p:spPr>
          <a:xfrm>
            <a:off x="8543925" y="4143375"/>
            <a:ext cx="0" cy="619125"/>
          </a:xfrm>
          <a:prstGeom prst="line">
            <a:avLst/>
          </a:prstGeom>
          <a:noFill/>
          <a:ln w="19050">
            <a:solidFill>
              <a:srgbClr val="30736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6" name="Text 74"/>
          <p:cNvSpPr/>
          <p:nvPr/>
        </p:nvSpPr>
        <p:spPr>
          <a:xfrm>
            <a:off x="8639175" y="4232970"/>
            <a:ext cx="1536192" cy="21031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307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24</a:t>
            </a:r>
            <a:endParaRPr lang="en-US" sz="1050" dirty="0"/>
          </a:p>
        </p:txBody>
      </p:sp>
      <p:sp>
        <p:nvSpPr>
          <p:cNvPr id="77" name="Text 75"/>
          <p:cNvSpPr/>
          <p:nvPr/>
        </p:nvSpPr>
        <p:spPr>
          <a:xfrm>
            <a:off x="8639175" y="4433888"/>
            <a:ext cx="1499616" cy="246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788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Code_Assessment: Mais que um Checklist</a:t>
            </a:r>
            <a:endParaRPr lang="en-US" sz="788" dirty="0"/>
          </a:p>
        </p:txBody>
      </p:sp>
      <p:sp>
        <p:nvSpPr>
          <p:cNvPr id="78" name="Shape 76"/>
          <p:cNvSpPr/>
          <p:nvPr/>
        </p:nvSpPr>
        <p:spPr>
          <a:xfrm>
            <a:off x="10248900" y="4143375"/>
            <a:ext cx="0" cy="619125"/>
          </a:xfrm>
          <a:prstGeom prst="line">
            <a:avLst/>
          </a:prstGeom>
          <a:noFill/>
          <a:ln w="19050">
            <a:solidFill>
              <a:srgbClr val="30736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9" name="Text 77"/>
          <p:cNvSpPr/>
          <p:nvPr/>
        </p:nvSpPr>
        <p:spPr>
          <a:xfrm>
            <a:off x="10344150" y="4232970"/>
            <a:ext cx="1536192" cy="21031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307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25</a:t>
            </a:r>
            <a:endParaRPr lang="en-US" sz="1050" dirty="0"/>
          </a:p>
        </p:txBody>
      </p:sp>
      <p:sp>
        <p:nvSpPr>
          <p:cNvPr id="80" name="Text 78"/>
          <p:cNvSpPr/>
          <p:nvPr/>
        </p:nvSpPr>
        <p:spPr>
          <a:xfrm>
            <a:off x="10344150" y="4433888"/>
            <a:ext cx="1499616" cy="246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788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Público-Alvo: Consultorias de SI</a:t>
            </a:r>
            <a:endParaRPr lang="en-US" sz="788" dirty="0"/>
          </a:p>
        </p:txBody>
      </p:sp>
      <p:sp>
        <p:nvSpPr>
          <p:cNvPr id="81" name="Shape 79"/>
          <p:cNvSpPr/>
          <p:nvPr/>
        </p:nvSpPr>
        <p:spPr>
          <a:xfrm>
            <a:off x="3429000" y="4905375"/>
            <a:ext cx="0" cy="619125"/>
          </a:xfrm>
          <a:prstGeom prst="line">
            <a:avLst/>
          </a:prstGeom>
          <a:noFill/>
          <a:ln w="19050">
            <a:solidFill>
              <a:srgbClr val="30736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2" name="Text 80"/>
          <p:cNvSpPr/>
          <p:nvPr/>
        </p:nvSpPr>
        <p:spPr>
          <a:xfrm>
            <a:off x="3524250" y="4994970"/>
            <a:ext cx="1536192" cy="21031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307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26</a:t>
            </a:r>
            <a:endParaRPr lang="en-US" sz="1050" dirty="0"/>
          </a:p>
        </p:txBody>
      </p:sp>
      <p:sp>
        <p:nvSpPr>
          <p:cNvPr id="83" name="Text 81"/>
          <p:cNvSpPr/>
          <p:nvPr/>
        </p:nvSpPr>
        <p:spPr>
          <a:xfrm>
            <a:off x="3524250" y="5195888"/>
            <a:ext cx="1499616" cy="246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788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Público-Alvo: Médias Empresas</a:t>
            </a:r>
            <a:endParaRPr lang="en-US" sz="788" dirty="0"/>
          </a:p>
        </p:txBody>
      </p:sp>
      <p:sp>
        <p:nvSpPr>
          <p:cNvPr id="84" name="Shape 82"/>
          <p:cNvSpPr/>
          <p:nvPr/>
        </p:nvSpPr>
        <p:spPr>
          <a:xfrm>
            <a:off x="5133975" y="4905375"/>
            <a:ext cx="0" cy="619125"/>
          </a:xfrm>
          <a:prstGeom prst="line">
            <a:avLst/>
          </a:prstGeom>
          <a:noFill/>
          <a:ln w="19050">
            <a:solidFill>
              <a:srgbClr val="30736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5" name="Text 83"/>
          <p:cNvSpPr/>
          <p:nvPr/>
        </p:nvSpPr>
        <p:spPr>
          <a:xfrm>
            <a:off x="5229225" y="4994970"/>
            <a:ext cx="1536192" cy="21031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307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27</a:t>
            </a:r>
            <a:endParaRPr lang="en-US" sz="1050" dirty="0"/>
          </a:p>
        </p:txBody>
      </p:sp>
      <p:sp>
        <p:nvSpPr>
          <p:cNvPr id="86" name="Text 84"/>
          <p:cNvSpPr/>
          <p:nvPr/>
        </p:nvSpPr>
        <p:spPr>
          <a:xfrm>
            <a:off x="5229225" y="5195888"/>
            <a:ext cx="1499616" cy="246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788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Público-Alvo: Empresas Reguladas</a:t>
            </a:r>
            <a:endParaRPr lang="en-US" sz="788" dirty="0"/>
          </a:p>
        </p:txBody>
      </p:sp>
      <p:sp>
        <p:nvSpPr>
          <p:cNvPr id="87" name="Shape 85"/>
          <p:cNvSpPr/>
          <p:nvPr/>
        </p:nvSpPr>
        <p:spPr>
          <a:xfrm>
            <a:off x="6838950" y="4905375"/>
            <a:ext cx="0" cy="619125"/>
          </a:xfrm>
          <a:prstGeom prst="line">
            <a:avLst/>
          </a:prstGeom>
          <a:noFill/>
          <a:ln w="19050">
            <a:solidFill>
              <a:srgbClr val="30736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8" name="Text 86"/>
          <p:cNvSpPr/>
          <p:nvPr/>
        </p:nvSpPr>
        <p:spPr>
          <a:xfrm>
            <a:off x="6934200" y="5054947"/>
            <a:ext cx="1536192" cy="21031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307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28</a:t>
            </a:r>
            <a:endParaRPr lang="en-US" sz="1050" dirty="0"/>
          </a:p>
        </p:txBody>
      </p:sp>
      <p:sp>
        <p:nvSpPr>
          <p:cNvPr id="89" name="Text 87"/>
          <p:cNvSpPr/>
          <p:nvPr/>
        </p:nvSpPr>
        <p:spPr>
          <a:xfrm>
            <a:off x="6934200" y="5253038"/>
            <a:ext cx="1527048" cy="1554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788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Cenário do Mercado Atual</a:t>
            </a:r>
            <a:endParaRPr lang="en-US" sz="788" dirty="0"/>
          </a:p>
        </p:txBody>
      </p:sp>
      <p:sp>
        <p:nvSpPr>
          <p:cNvPr id="90" name="Shape 88"/>
          <p:cNvSpPr/>
          <p:nvPr/>
        </p:nvSpPr>
        <p:spPr>
          <a:xfrm>
            <a:off x="8543925" y="4905375"/>
            <a:ext cx="0" cy="619125"/>
          </a:xfrm>
          <a:prstGeom prst="line">
            <a:avLst/>
          </a:prstGeom>
          <a:noFill/>
          <a:ln w="19050">
            <a:solidFill>
              <a:srgbClr val="30736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1" name="Text 89"/>
          <p:cNvSpPr/>
          <p:nvPr/>
        </p:nvSpPr>
        <p:spPr>
          <a:xfrm>
            <a:off x="8639175" y="4994970"/>
            <a:ext cx="1536192" cy="21031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307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29</a:t>
            </a:r>
            <a:endParaRPr lang="en-US" sz="1050" dirty="0"/>
          </a:p>
        </p:txBody>
      </p:sp>
      <p:sp>
        <p:nvSpPr>
          <p:cNvPr id="92" name="Text 90"/>
          <p:cNvSpPr/>
          <p:nvPr/>
        </p:nvSpPr>
        <p:spPr>
          <a:xfrm>
            <a:off x="8639175" y="5195888"/>
            <a:ext cx="1499616" cy="246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788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Concorrência: Grandes Plataformas GRC</a:t>
            </a:r>
            <a:endParaRPr lang="en-US" sz="788" dirty="0"/>
          </a:p>
        </p:txBody>
      </p:sp>
      <p:sp>
        <p:nvSpPr>
          <p:cNvPr id="93" name="Shape 91"/>
          <p:cNvSpPr/>
          <p:nvPr/>
        </p:nvSpPr>
        <p:spPr>
          <a:xfrm>
            <a:off x="10248900" y="4905375"/>
            <a:ext cx="0" cy="619125"/>
          </a:xfrm>
          <a:prstGeom prst="line">
            <a:avLst/>
          </a:prstGeom>
          <a:noFill/>
          <a:ln w="19050">
            <a:solidFill>
              <a:srgbClr val="30736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4" name="Text 92"/>
          <p:cNvSpPr/>
          <p:nvPr/>
        </p:nvSpPr>
        <p:spPr>
          <a:xfrm>
            <a:off x="10344150" y="4994970"/>
            <a:ext cx="1536192" cy="21031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307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30</a:t>
            </a:r>
            <a:endParaRPr lang="en-US" sz="1050" dirty="0"/>
          </a:p>
        </p:txBody>
      </p:sp>
      <p:sp>
        <p:nvSpPr>
          <p:cNvPr id="95" name="Text 93"/>
          <p:cNvSpPr/>
          <p:nvPr/>
        </p:nvSpPr>
        <p:spPr>
          <a:xfrm>
            <a:off x="10344150" y="5195888"/>
            <a:ext cx="1499616" cy="246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788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Concorrência: Plataformas Modernas</a:t>
            </a:r>
            <a:endParaRPr lang="en-US" sz="788" dirty="0"/>
          </a:p>
        </p:txBody>
      </p:sp>
      <p:sp>
        <p:nvSpPr>
          <p:cNvPr id="96" name="Shape 94"/>
          <p:cNvSpPr/>
          <p:nvPr/>
        </p:nvSpPr>
        <p:spPr>
          <a:xfrm>
            <a:off x="3429000" y="5667375"/>
            <a:ext cx="0" cy="619125"/>
          </a:xfrm>
          <a:prstGeom prst="line">
            <a:avLst/>
          </a:prstGeom>
          <a:noFill/>
          <a:ln w="19050">
            <a:solidFill>
              <a:srgbClr val="30736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7" name="Text 95"/>
          <p:cNvSpPr/>
          <p:nvPr/>
        </p:nvSpPr>
        <p:spPr>
          <a:xfrm>
            <a:off x="3524250" y="5756970"/>
            <a:ext cx="1536192" cy="21031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307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31</a:t>
            </a:r>
            <a:endParaRPr lang="en-US" sz="1050" dirty="0"/>
          </a:p>
        </p:txBody>
      </p:sp>
      <p:sp>
        <p:nvSpPr>
          <p:cNvPr id="98" name="Text 96"/>
          <p:cNvSpPr/>
          <p:nvPr/>
        </p:nvSpPr>
        <p:spPr>
          <a:xfrm>
            <a:off x="3524250" y="5957888"/>
            <a:ext cx="1499616" cy="246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788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Concorrência: Planilhas e Processos Manuais</a:t>
            </a:r>
            <a:endParaRPr lang="en-US" sz="788" dirty="0"/>
          </a:p>
        </p:txBody>
      </p:sp>
      <p:sp>
        <p:nvSpPr>
          <p:cNvPr id="99" name="Shape 97"/>
          <p:cNvSpPr/>
          <p:nvPr/>
        </p:nvSpPr>
        <p:spPr>
          <a:xfrm>
            <a:off x="5133975" y="5667375"/>
            <a:ext cx="0" cy="619125"/>
          </a:xfrm>
          <a:prstGeom prst="line">
            <a:avLst/>
          </a:prstGeom>
          <a:noFill/>
          <a:ln w="19050">
            <a:solidFill>
              <a:srgbClr val="30736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0" name="Text 98"/>
          <p:cNvSpPr/>
          <p:nvPr/>
        </p:nvSpPr>
        <p:spPr>
          <a:xfrm>
            <a:off x="5229225" y="5816947"/>
            <a:ext cx="1536192" cy="21031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307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32</a:t>
            </a:r>
            <a:endParaRPr lang="en-US" sz="1050" dirty="0"/>
          </a:p>
        </p:txBody>
      </p:sp>
      <p:sp>
        <p:nvSpPr>
          <p:cNvPr id="101" name="Text 99"/>
          <p:cNvSpPr/>
          <p:nvPr/>
        </p:nvSpPr>
        <p:spPr>
          <a:xfrm>
            <a:off x="5229225" y="6015038"/>
            <a:ext cx="1527048" cy="1554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788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Posicionamento Estratégico</a:t>
            </a:r>
            <a:endParaRPr lang="en-US" sz="788" dirty="0"/>
          </a:p>
        </p:txBody>
      </p:sp>
      <p:sp>
        <p:nvSpPr>
          <p:cNvPr id="102" name="Shape 100"/>
          <p:cNvSpPr/>
          <p:nvPr/>
        </p:nvSpPr>
        <p:spPr>
          <a:xfrm>
            <a:off x="6838950" y="5667375"/>
            <a:ext cx="0" cy="619125"/>
          </a:xfrm>
          <a:prstGeom prst="line">
            <a:avLst/>
          </a:prstGeom>
          <a:noFill/>
          <a:ln w="19050">
            <a:solidFill>
              <a:srgbClr val="30736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3" name="Text 101"/>
          <p:cNvSpPr/>
          <p:nvPr/>
        </p:nvSpPr>
        <p:spPr>
          <a:xfrm>
            <a:off x="6934200" y="5756970"/>
            <a:ext cx="1536192" cy="21031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307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33</a:t>
            </a:r>
            <a:endParaRPr lang="en-US" sz="1050" dirty="0"/>
          </a:p>
        </p:txBody>
      </p:sp>
      <p:sp>
        <p:nvSpPr>
          <p:cNvPr id="104" name="Text 102"/>
          <p:cNvSpPr/>
          <p:nvPr/>
        </p:nvSpPr>
        <p:spPr>
          <a:xfrm>
            <a:off x="6934200" y="5957888"/>
            <a:ext cx="1499616" cy="246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788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Diferenciais da MRS Consultoria</a:t>
            </a:r>
            <a:endParaRPr lang="en-US" sz="788" dirty="0"/>
          </a:p>
        </p:txBody>
      </p:sp>
      <p:sp>
        <p:nvSpPr>
          <p:cNvPr id="105" name="Shape 103"/>
          <p:cNvSpPr/>
          <p:nvPr/>
        </p:nvSpPr>
        <p:spPr>
          <a:xfrm>
            <a:off x="8543925" y="5667375"/>
            <a:ext cx="0" cy="619125"/>
          </a:xfrm>
          <a:prstGeom prst="line">
            <a:avLst/>
          </a:prstGeom>
          <a:noFill/>
          <a:ln w="19050">
            <a:solidFill>
              <a:srgbClr val="30736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6" name="Text 104"/>
          <p:cNvSpPr/>
          <p:nvPr/>
        </p:nvSpPr>
        <p:spPr>
          <a:xfrm>
            <a:off x="8639175" y="5816947"/>
            <a:ext cx="1536192" cy="21031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307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34</a:t>
            </a:r>
            <a:endParaRPr lang="en-US" sz="1050" dirty="0"/>
          </a:p>
        </p:txBody>
      </p:sp>
      <p:sp>
        <p:nvSpPr>
          <p:cNvPr id="107" name="Text 105"/>
          <p:cNvSpPr/>
          <p:nvPr/>
        </p:nvSpPr>
        <p:spPr>
          <a:xfrm>
            <a:off x="8639175" y="6015038"/>
            <a:ext cx="1527048" cy="1554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788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Modelo de Negócio: B2B SaaS</a:t>
            </a:r>
            <a:endParaRPr lang="en-US" sz="788" dirty="0"/>
          </a:p>
        </p:txBody>
      </p:sp>
      <p:sp>
        <p:nvSpPr>
          <p:cNvPr id="108" name="Shape 106"/>
          <p:cNvSpPr/>
          <p:nvPr/>
        </p:nvSpPr>
        <p:spPr>
          <a:xfrm>
            <a:off x="10248900" y="5667375"/>
            <a:ext cx="0" cy="619125"/>
          </a:xfrm>
          <a:prstGeom prst="line">
            <a:avLst/>
          </a:prstGeom>
          <a:noFill/>
          <a:ln w="19050">
            <a:solidFill>
              <a:srgbClr val="30736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9" name="Text 107"/>
          <p:cNvSpPr/>
          <p:nvPr/>
        </p:nvSpPr>
        <p:spPr>
          <a:xfrm>
            <a:off x="10344150" y="5816947"/>
            <a:ext cx="1536192" cy="21031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307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35</a:t>
            </a:r>
            <a:endParaRPr lang="en-US" sz="1050" dirty="0"/>
          </a:p>
        </p:txBody>
      </p:sp>
      <p:sp>
        <p:nvSpPr>
          <p:cNvPr id="110" name="Text 108"/>
          <p:cNvSpPr/>
          <p:nvPr/>
        </p:nvSpPr>
        <p:spPr>
          <a:xfrm>
            <a:off x="10344150" y="6015038"/>
            <a:ext cx="1527048" cy="1554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788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Modelo de Negócio: B2B2B</a:t>
            </a:r>
            <a:endParaRPr lang="en-US" sz="788" dirty="0"/>
          </a:p>
        </p:txBody>
      </p:sp>
      <p:sp>
        <p:nvSpPr>
          <p:cNvPr id="111" name="Shape 109"/>
          <p:cNvSpPr/>
          <p:nvPr/>
        </p:nvSpPr>
        <p:spPr>
          <a:xfrm>
            <a:off x="3429000" y="6429375"/>
            <a:ext cx="0" cy="619125"/>
          </a:xfrm>
          <a:prstGeom prst="line">
            <a:avLst/>
          </a:prstGeom>
          <a:noFill/>
          <a:ln w="19050">
            <a:solidFill>
              <a:srgbClr val="30736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2" name="Text 110"/>
          <p:cNvSpPr/>
          <p:nvPr/>
        </p:nvSpPr>
        <p:spPr>
          <a:xfrm>
            <a:off x="3524250" y="6578947"/>
            <a:ext cx="1536192" cy="21031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307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36</a:t>
            </a:r>
            <a:endParaRPr lang="en-US" sz="1050" dirty="0"/>
          </a:p>
        </p:txBody>
      </p:sp>
      <p:sp>
        <p:nvSpPr>
          <p:cNvPr id="113" name="Text 111"/>
          <p:cNvSpPr/>
          <p:nvPr/>
        </p:nvSpPr>
        <p:spPr>
          <a:xfrm>
            <a:off x="3524250" y="6777038"/>
            <a:ext cx="1527048" cy="1554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788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Estratégia de Monetização</a:t>
            </a:r>
            <a:endParaRPr lang="en-US" sz="788" dirty="0"/>
          </a:p>
        </p:txBody>
      </p:sp>
      <p:sp>
        <p:nvSpPr>
          <p:cNvPr id="114" name="Shape 112"/>
          <p:cNvSpPr/>
          <p:nvPr/>
        </p:nvSpPr>
        <p:spPr>
          <a:xfrm>
            <a:off x="5133975" y="6429375"/>
            <a:ext cx="0" cy="619125"/>
          </a:xfrm>
          <a:prstGeom prst="line">
            <a:avLst/>
          </a:prstGeom>
          <a:noFill/>
          <a:ln w="19050">
            <a:solidFill>
              <a:srgbClr val="30736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5" name="Text 113"/>
          <p:cNvSpPr/>
          <p:nvPr/>
        </p:nvSpPr>
        <p:spPr>
          <a:xfrm>
            <a:off x="5229225" y="6578947"/>
            <a:ext cx="1536192" cy="21031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307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37</a:t>
            </a:r>
            <a:endParaRPr lang="en-US" sz="1050" dirty="0"/>
          </a:p>
        </p:txBody>
      </p:sp>
      <p:sp>
        <p:nvSpPr>
          <p:cNvPr id="116" name="Text 114"/>
          <p:cNvSpPr/>
          <p:nvPr/>
        </p:nvSpPr>
        <p:spPr>
          <a:xfrm>
            <a:off x="5229225" y="6777038"/>
            <a:ext cx="1527048" cy="1554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788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Receita Adicional e Serviços</a:t>
            </a:r>
            <a:endParaRPr lang="en-US" sz="788" dirty="0"/>
          </a:p>
        </p:txBody>
      </p:sp>
      <p:sp>
        <p:nvSpPr>
          <p:cNvPr id="117" name="Shape 115"/>
          <p:cNvSpPr/>
          <p:nvPr/>
        </p:nvSpPr>
        <p:spPr>
          <a:xfrm>
            <a:off x="6838950" y="6429375"/>
            <a:ext cx="0" cy="619125"/>
          </a:xfrm>
          <a:prstGeom prst="line">
            <a:avLst/>
          </a:prstGeom>
          <a:noFill/>
          <a:ln w="19050">
            <a:solidFill>
              <a:srgbClr val="30736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8" name="Text 116"/>
          <p:cNvSpPr/>
          <p:nvPr/>
        </p:nvSpPr>
        <p:spPr>
          <a:xfrm>
            <a:off x="6934200" y="6518970"/>
            <a:ext cx="1536192" cy="21031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307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38</a:t>
            </a:r>
            <a:endParaRPr lang="en-US" sz="1050" dirty="0"/>
          </a:p>
        </p:txBody>
      </p:sp>
      <p:sp>
        <p:nvSpPr>
          <p:cNvPr id="119" name="Text 117"/>
          <p:cNvSpPr/>
          <p:nvPr/>
        </p:nvSpPr>
        <p:spPr>
          <a:xfrm>
            <a:off x="6934200" y="6719888"/>
            <a:ext cx="1499616" cy="246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788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Futuro do Code_Assessment: Fases 1 a 3</a:t>
            </a:r>
            <a:endParaRPr lang="en-US" sz="788" dirty="0"/>
          </a:p>
        </p:txBody>
      </p:sp>
      <p:sp>
        <p:nvSpPr>
          <p:cNvPr id="120" name="Shape 118"/>
          <p:cNvSpPr/>
          <p:nvPr/>
        </p:nvSpPr>
        <p:spPr>
          <a:xfrm>
            <a:off x="8543925" y="6429375"/>
            <a:ext cx="0" cy="619125"/>
          </a:xfrm>
          <a:prstGeom prst="line">
            <a:avLst/>
          </a:prstGeom>
          <a:noFill/>
          <a:ln w="19050">
            <a:solidFill>
              <a:srgbClr val="30736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1" name="Text 119"/>
          <p:cNvSpPr/>
          <p:nvPr/>
        </p:nvSpPr>
        <p:spPr>
          <a:xfrm>
            <a:off x="8639175" y="6518970"/>
            <a:ext cx="1536192" cy="21031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307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39</a:t>
            </a:r>
            <a:endParaRPr lang="en-US" sz="1050" dirty="0"/>
          </a:p>
        </p:txBody>
      </p:sp>
      <p:sp>
        <p:nvSpPr>
          <p:cNvPr id="122" name="Text 120"/>
          <p:cNvSpPr/>
          <p:nvPr/>
        </p:nvSpPr>
        <p:spPr>
          <a:xfrm>
            <a:off x="8639175" y="6719888"/>
            <a:ext cx="1499616" cy="246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788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Futuro do Code_Assessment: Fases 4 e 5</a:t>
            </a:r>
            <a:endParaRPr lang="en-US" sz="788" dirty="0"/>
          </a:p>
        </p:txBody>
      </p:sp>
      <p:sp>
        <p:nvSpPr>
          <p:cNvPr id="123" name="Shape 121"/>
          <p:cNvSpPr/>
          <p:nvPr/>
        </p:nvSpPr>
        <p:spPr>
          <a:xfrm>
            <a:off x="10248900" y="6429375"/>
            <a:ext cx="0" cy="619125"/>
          </a:xfrm>
          <a:prstGeom prst="line">
            <a:avLst/>
          </a:prstGeom>
          <a:noFill/>
          <a:ln w="19050">
            <a:solidFill>
              <a:srgbClr val="30736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4" name="Text 122"/>
          <p:cNvSpPr/>
          <p:nvPr/>
        </p:nvSpPr>
        <p:spPr>
          <a:xfrm>
            <a:off x="10344150" y="6518970"/>
            <a:ext cx="1536192" cy="21031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307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40</a:t>
            </a:r>
            <a:endParaRPr lang="en-US" sz="1050" dirty="0"/>
          </a:p>
        </p:txBody>
      </p:sp>
      <p:sp>
        <p:nvSpPr>
          <p:cNvPr id="125" name="Text 123"/>
          <p:cNvSpPr/>
          <p:nvPr/>
        </p:nvSpPr>
        <p:spPr>
          <a:xfrm>
            <a:off x="10344150" y="6719888"/>
            <a:ext cx="1499616" cy="2468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788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Visão de Longo Prazo e Encerramento</a:t>
            </a:r>
            <a:endParaRPr lang="en-US" sz="788" dirty="0"/>
          </a:p>
        </p:txBody>
      </p:sp>
      <p:sp>
        <p:nvSpPr>
          <p:cNvPr id="126" name="Text 124"/>
          <p:cNvSpPr/>
          <p:nvPr/>
        </p:nvSpPr>
        <p:spPr>
          <a:xfrm>
            <a:off x="0" y="1"/>
            <a:ext cx="3048000" cy="7126986"/>
          </a:xfrm>
          <a:prstGeom prst="rect">
            <a:avLst/>
          </a:prstGeom>
          <a:solidFill>
            <a:schemeClr val="bg1">
              <a:lumMod val="65000"/>
            </a:scheme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7" name="Shape 125"/>
          <p:cNvSpPr/>
          <p:nvPr/>
        </p:nvSpPr>
        <p:spPr>
          <a:xfrm>
            <a:off x="285750" y="642937"/>
            <a:ext cx="1924050" cy="0"/>
          </a:xfrm>
          <a:prstGeom prst="line">
            <a:avLst/>
          </a:prstGeom>
          <a:noFill/>
          <a:ln w="9525">
            <a:solidFill>
              <a:srgbClr val="1E535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8" name="Text 126"/>
          <p:cNvSpPr/>
          <p:nvPr/>
        </p:nvSpPr>
        <p:spPr>
          <a:xfrm>
            <a:off x="285750" y="400050"/>
            <a:ext cx="1956816" cy="256032"/>
          </a:xfrm>
          <a:prstGeom prst="rect">
            <a:avLst/>
          </a:prstGeom>
          <a:noFill/>
          <a:ln/>
        </p:spPr>
        <p:txBody>
          <a:bodyPr vert="horz" wrap="square" lIns="0" tIns="0" rIns="0" bIns="9525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kern="0" spc="70" dirty="0">
                <a:solidFill>
                  <a:srgbClr val="3073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SEGURANÇA DA INFORMAÇÃO</a:t>
            </a:r>
            <a:endParaRPr lang="en-US" sz="900" dirty="0"/>
          </a:p>
        </p:txBody>
      </p:sp>
      <p:sp>
        <p:nvSpPr>
          <p:cNvPr id="129" name="Text 127"/>
          <p:cNvSpPr/>
          <p:nvPr/>
        </p:nvSpPr>
        <p:spPr>
          <a:xfrm>
            <a:off x="285749" y="837158"/>
            <a:ext cx="2647017" cy="74066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F2F2F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Plataforma Code_Assessment</a:t>
            </a:r>
            <a:endParaRPr lang="en-US" sz="2400" dirty="0"/>
          </a:p>
        </p:txBody>
      </p:sp>
      <p:sp>
        <p:nvSpPr>
          <p:cNvPr id="130" name="Text 128"/>
          <p:cNvSpPr/>
          <p:nvPr/>
        </p:nvSpPr>
        <p:spPr>
          <a:xfrm>
            <a:off x="285750" y="1712416"/>
            <a:ext cx="2514600" cy="32918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50" i="1" dirty="0">
                <a:solidFill>
                  <a:srgbClr val="F2F2F2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Gestão estratégica e conformidade normativa para o ecossistema digital.</a:t>
            </a:r>
            <a:endParaRPr lang="en-US" sz="1050" dirty="0"/>
          </a:p>
        </p:txBody>
      </p:sp>
      <p:sp>
        <p:nvSpPr>
          <p:cNvPr id="131" name="Text 129"/>
          <p:cNvSpPr/>
          <p:nvPr/>
        </p:nvSpPr>
        <p:spPr>
          <a:xfrm>
            <a:off x="485650" y="6345234"/>
            <a:ext cx="2560320" cy="1737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dirty="0">
                <a:solidFill>
                  <a:srgbClr val="3073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RELATÓRIO DE ESTRUTURA 2026</a:t>
            </a:r>
            <a:endParaRPr lang="en-US" sz="900" dirty="0"/>
          </a:p>
        </p:txBody>
      </p:sp>
      <p:pic>
        <p:nvPicPr>
          <p:cNvPr id="133" name="Imagem 132">
            <a:extLst>
              <a:ext uri="{FF2B5EF4-FFF2-40B4-BE49-F238E27FC236}">
                <a16:creationId xmlns:a16="http://schemas.microsoft.com/office/drawing/2014/main" id="{858219E7-5382-9962-9110-553A5FA815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650" y="2687985"/>
            <a:ext cx="2360420" cy="256505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077415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14375" y="1047750"/>
            <a:ext cx="5715000" cy="4762500"/>
          </a:xfrm>
          <a:prstGeom prst="rect">
            <a:avLst/>
          </a:prstGeom>
          <a:solidFill>
            <a:srgbClr val="1E535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" name="Image 0" descr="image.png"/>
          <p:cNvPicPr>
            <a:picLocks noChangeAspect="1"/>
          </p:cNvPicPr>
          <p:nvPr/>
        </p:nvPicPr>
        <p:blipFill>
          <a:blip r:embed="rId3"/>
          <a:srcRect b="16667"/>
          <a:stretch/>
        </p:blipFill>
        <p:spPr>
          <a:xfrm>
            <a:off x="714375" y="1047750"/>
            <a:ext cx="5715000" cy="4762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4374" y="158793"/>
            <a:ext cx="10202669" cy="124358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22A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Code_Assessment - Avaliação e Gestão de Segurança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7114479" y="1097344"/>
            <a:ext cx="5715000" cy="167264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Plataforma completa para governança e proteção de dados empresarial.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191375" y="2028825"/>
            <a:ext cx="762000" cy="762000"/>
          </a:xfrm>
          <a:prstGeom prst="roundRect">
            <a:avLst>
              <a:gd name="adj" fmla="val 1200000"/>
            </a:avLst>
          </a:prstGeom>
          <a:solidFill>
            <a:srgbClr val="122A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9" name="Image 1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400925" y="2238375"/>
            <a:ext cx="342900" cy="3429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39125" y="2028825"/>
            <a:ext cx="3291840" cy="5760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122A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Desenvolvido por MRS Consultoria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8239125" y="2695575"/>
            <a:ext cx="3282696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1800"/>
              </a:lnSpc>
              <a:buNone/>
            </a:pPr>
            <a:r>
              <a:rPr lang="en-US" sz="1125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sistema transforma a conformidade em um processo digital estruturado, garantindo total controle sobre a segurança da informação.</a:t>
            </a:r>
            <a:endParaRPr lang="en-US" sz="1125" dirty="0"/>
          </a:p>
        </p:txBody>
      </p:sp>
      <p:sp>
        <p:nvSpPr>
          <p:cNvPr id="12" name="Text 8"/>
          <p:cNvSpPr/>
          <p:nvPr/>
        </p:nvSpPr>
        <p:spPr>
          <a:xfrm>
            <a:off x="7191375" y="3762375"/>
            <a:ext cx="762000" cy="762000"/>
          </a:xfrm>
          <a:prstGeom prst="roundRect">
            <a:avLst>
              <a:gd name="adj" fmla="val 1200000"/>
            </a:avLst>
          </a:prstGeom>
          <a:solidFill>
            <a:srgbClr val="30736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3" name="Image 2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358063" y="3971925"/>
            <a:ext cx="428625" cy="3429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39125" y="3762375"/>
            <a:ext cx="3364992" cy="32004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307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Guardiões da Segurança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8239125" y="4143375"/>
            <a:ext cx="3282696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1800"/>
              </a:lnSpc>
              <a:buNone/>
            </a:pPr>
            <a:r>
              <a:rPr lang="en-US" sz="1125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Utiliza a expertise do programa Guardiões para garantir conformidade e proteção robusta através de uma identidade visual padronizada.</a:t>
            </a:r>
            <a:endParaRPr lang="en-US" sz="11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166624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936352"/>
            <a:ext cx="4965192" cy="55778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122A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Sumário Executivo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762000" y="1583085"/>
            <a:ext cx="4809744" cy="5212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1E53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Acompanhe os pilares estratégicos da plataforma Code_Assessment desenvolvida pela MRS Consultoria.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62000" y="2573685"/>
            <a:ext cx="4919472" cy="32004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307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Metodologia e Operação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62000" y="2974628"/>
            <a:ext cx="4800600" cy="49377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Estrutura baseada em ISO 27001 e 27002 para transição da fragmentação manual para a centralização digital eficiente.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62000" y="3889921"/>
            <a:ext cx="4919472" cy="32004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307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Estratégia e Mercado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762000" y="4290864"/>
            <a:ext cx="4800600" cy="49377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Foco em empresas reguladas e roadmap de maturidade voltado para gestão de vulnerabilidades até 2026.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6000" y="937320"/>
            <a:ext cx="5334000" cy="3810000"/>
          </a:xfrm>
          <a:prstGeom prst="roundRect">
            <a:avLst>
              <a:gd name="adj" fmla="val 2000"/>
            </a:avLst>
          </a:prstGeom>
          <a:solidFill>
            <a:srgbClr val="1E535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0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6000" y="937320"/>
            <a:ext cx="5334000" cy="3810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096000" y="5033070"/>
            <a:ext cx="1650950" cy="887611"/>
          </a:xfrm>
          <a:prstGeom prst="roundRect">
            <a:avLst>
              <a:gd name="adj" fmla="val 6439"/>
            </a:avLst>
          </a:prstGeom>
          <a:solidFill>
            <a:srgbClr val="122A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532447" y="5243513"/>
            <a:ext cx="813816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Estrutura de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551736" y="5463480"/>
            <a:ext cx="795528" cy="28346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Tópicos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937450" y="5033070"/>
            <a:ext cx="1650950" cy="887611"/>
          </a:xfrm>
          <a:prstGeom prst="roundRect">
            <a:avLst>
              <a:gd name="adj" fmla="val 6439"/>
            </a:avLst>
          </a:prstGeom>
          <a:solidFill>
            <a:srgbClr val="FFFFFF"/>
          </a:solidFill>
          <a:ln w="19050">
            <a:solidFill>
              <a:srgbClr val="30736C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8529346" y="5243513"/>
            <a:ext cx="502920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1050" dirty="0">
                <a:solidFill>
                  <a:srgbClr val="3073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Visão 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296031" y="5463480"/>
            <a:ext cx="987552" cy="28346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307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Objetivos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9778901" y="5033070"/>
            <a:ext cx="1650950" cy="887611"/>
          </a:xfrm>
          <a:prstGeom prst="roundRect">
            <a:avLst>
              <a:gd name="adj" fmla="val 6439"/>
            </a:avLst>
          </a:prstGeom>
          <a:solidFill>
            <a:srgbClr val="122A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10312503" y="5243513"/>
            <a:ext cx="621792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Público e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10152055" y="5463480"/>
            <a:ext cx="960120" cy="28346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Negócios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165503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2192000" cy="2667000"/>
          </a:xfrm>
          <a:prstGeom prst="rect">
            <a:avLst/>
          </a:prstGeom>
          <a:solidFill>
            <a:srgbClr val="122A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54177" y="692497"/>
            <a:ext cx="11000232" cy="6126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F2F2F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Visão Executiva: Plataforma SaaS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809750" y="1383953"/>
            <a:ext cx="8631936" cy="59436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310"/>
              </a:lnSpc>
              <a:buNone/>
            </a:pPr>
            <a:r>
              <a:rPr lang="en-US" sz="1650" dirty="0">
                <a:solidFill>
                  <a:srgbClr val="F2F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Code_Assessment é uma solução estratégica da MRS Consultoria para gestão avançada da segurança da informação e proteção de dados organizacionais.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62000" y="3143250"/>
            <a:ext cx="733425" cy="800100"/>
          </a:xfrm>
          <a:prstGeom prst="roundRect">
            <a:avLst>
              <a:gd name="adj" fmla="val 10390"/>
            </a:avLst>
          </a:prstGeom>
          <a:solidFill>
            <a:srgbClr val="30736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3238500"/>
            <a:ext cx="521208" cy="6766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F2F2F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1731913" y="3238500"/>
            <a:ext cx="2441448" cy="320040"/>
          </a:xfrm>
          <a:prstGeom prst="rect">
            <a:avLst/>
          </a:prstGeom>
          <a:noFill/>
          <a:ln/>
        </p:spPr>
        <p:txBody>
          <a:bodyPr vert="horz" wrap="none" lIns="0" tIns="0" rIns="190500" bIns="0" rtlCol="0" anchor="t">
            <a:normAutofit/>
          </a:bodyPr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122A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Modelo SaaS MRS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760363" y="4133552"/>
            <a:ext cx="3346704" cy="129844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2040"/>
              </a:lnSpc>
              <a:buNone/>
            </a:pPr>
            <a:r>
              <a:rPr lang="en-US" sz="1200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Code_Assessment é uma plataforma SaaS desenvolvida pela MRS Consultoria, projetada para oferecer escalabilidade e eficiência na nuvem para empresas modernas.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444901" y="3143250"/>
            <a:ext cx="733425" cy="800100"/>
          </a:xfrm>
          <a:prstGeom prst="roundRect">
            <a:avLst>
              <a:gd name="adj" fmla="val 10390"/>
            </a:avLst>
          </a:prstGeom>
          <a:solidFill>
            <a:srgbClr val="30736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635401" y="3238500"/>
            <a:ext cx="521208" cy="6766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F2F2F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5414888" y="3238500"/>
            <a:ext cx="2386584" cy="576072"/>
          </a:xfrm>
          <a:prstGeom prst="rect">
            <a:avLst/>
          </a:prstGeom>
          <a:noFill/>
          <a:ln/>
        </p:spPr>
        <p:txBody>
          <a:bodyPr vert="horz" wrap="square" lIns="0" tIns="0" rIns="190500" bIns="0" rtlCol="0" anchor="t"/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122A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Gestão de Segurança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4443338" y="4132659"/>
            <a:ext cx="3346704" cy="104241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2040"/>
              </a:lnSpc>
              <a:buNone/>
            </a:pPr>
            <a:r>
              <a:rPr lang="en-US" sz="1200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Foco centralizado na avaliação, gestão e monitoramento contínuo da segurança, permitindo uma visão holística e proativa contra ameaças digitais emergentes.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27950" y="3143250"/>
            <a:ext cx="733425" cy="800100"/>
          </a:xfrm>
          <a:prstGeom prst="roundRect">
            <a:avLst>
              <a:gd name="adj" fmla="val 10390"/>
            </a:avLst>
          </a:prstGeom>
          <a:solidFill>
            <a:srgbClr val="30736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318450" y="3238500"/>
            <a:ext cx="521208" cy="6766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F2F2F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9097863" y="3238500"/>
            <a:ext cx="2441448" cy="320040"/>
          </a:xfrm>
          <a:prstGeom prst="rect">
            <a:avLst/>
          </a:prstGeom>
          <a:noFill/>
          <a:ln/>
        </p:spPr>
        <p:txBody>
          <a:bodyPr vert="horz" wrap="none" lIns="0" tIns="0" rIns="190500" bIns="0" rtlCol="0" anchor="t">
            <a:normAutofit/>
          </a:bodyPr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122A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Conformidade Total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8126313" y="4132659"/>
            <a:ext cx="3346704" cy="104241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2040"/>
              </a:lnSpc>
              <a:buNone/>
            </a:pPr>
            <a:r>
              <a:rPr lang="en-US" sz="1200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Garante alinhamento total com as normas de conformidade organizacional e as melhores práticas globais de proteção de dados e privacidade corporativa.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191250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573360"/>
            <a:ext cx="11009376" cy="6583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4680"/>
              </a:lnSpc>
              <a:buNone/>
            </a:pPr>
            <a:r>
              <a:rPr lang="en-US" sz="3900" b="1" dirty="0">
                <a:solidFill>
                  <a:srgbClr val="122A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Visão Executiva: Transformação Digital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762000" y="1308646"/>
            <a:ext cx="10936224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E53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Transição de processos manuais para uma governança de segurança estruturada e colaborativa.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62000" y="2231901"/>
            <a:ext cx="4443984" cy="484632"/>
          </a:xfrm>
          <a:prstGeom prst="rect">
            <a:avLst/>
          </a:prstGeom>
          <a:noFill/>
          <a:ln/>
        </p:spPr>
        <p:txBody>
          <a:bodyPr vert="horz" wrap="none" lIns="0" tIns="0" rIns="0" bIns="95250" rtlCol="0" anchor="t">
            <a:normAutofit/>
          </a:bodyPr>
          <a:lstStyle/>
          <a:p>
            <a:pPr marL="0" indent="0" algn="l">
              <a:lnSpc>
                <a:spcPts val="2730"/>
              </a:lnSpc>
              <a:buNone/>
            </a:pPr>
            <a:r>
              <a:rPr lang="en-US" sz="2100" b="1" dirty="0">
                <a:solidFill>
                  <a:srgbClr val="1E535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Estratégia e Modernização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62000" y="2861370"/>
            <a:ext cx="4334256" cy="87782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2295"/>
              </a:lnSpc>
              <a:buNone/>
            </a:pPr>
            <a:r>
              <a:rPr lang="en-US" sz="1350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migração digital substitui fluxos tradicionais por uma plataforma SaaS integrada, essencial para a nova era de defesa cibernética prevista para 2026.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62000" y="3926086"/>
            <a:ext cx="4334256" cy="87782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2295"/>
              </a:lnSpc>
              <a:buNone/>
            </a:pPr>
            <a:r>
              <a:rPr lang="en-US" sz="1350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Eliminamos o caos operacional ao extinguir o uso de planilhas Excel, documentos Word e e-mails dispersos que fragmentam os dados críticos.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62000" y="4990802"/>
            <a:ext cx="4334256" cy="87782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2295"/>
              </a:lnSpc>
              <a:buNone/>
            </a:pPr>
            <a:r>
              <a:rPr lang="en-US" sz="1350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Estabelecemos um repositório único de evidências e controles, garantindo rastreabilidade total e conformidade em tempo real.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810250" y="1805573"/>
            <a:ext cx="2667000" cy="1905000"/>
          </a:xfrm>
          <a:prstGeom prst="roundRect">
            <a:avLst>
              <a:gd name="adj" fmla="val 3000"/>
            </a:avLst>
          </a:prstGeom>
          <a:solidFill>
            <a:srgbClr val="30736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774085" y="2434223"/>
            <a:ext cx="795528" cy="29260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2F2F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Modelo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127861" y="2786648"/>
            <a:ext cx="2093976" cy="32918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2340"/>
              </a:lnSpc>
              <a:buNone/>
            </a:pPr>
            <a:r>
              <a:rPr lang="en-US" sz="1950" b="1" dirty="0">
                <a:solidFill>
                  <a:srgbClr val="F2F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Plataforma SaaS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8763000" y="1805573"/>
            <a:ext cx="2667000" cy="1905000"/>
          </a:xfrm>
          <a:prstGeom prst="roundRect">
            <a:avLst>
              <a:gd name="adj" fmla="val 3000"/>
            </a:avLst>
          </a:prstGeom>
          <a:solidFill>
            <a:srgbClr val="30736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867710" y="2434223"/>
            <a:ext cx="512064" cy="29260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2F2F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Foco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240917" y="2786648"/>
            <a:ext cx="1773936" cy="32918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2340"/>
              </a:lnSpc>
              <a:buNone/>
            </a:pPr>
            <a:r>
              <a:rPr lang="en-US" sz="1950" b="1" dirty="0">
                <a:solidFill>
                  <a:srgbClr val="F2F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Centralização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5810250" y="3996323"/>
            <a:ext cx="2667000" cy="1905000"/>
          </a:xfrm>
          <a:prstGeom prst="roundRect">
            <a:avLst>
              <a:gd name="adj" fmla="val 3000"/>
            </a:avLst>
          </a:prstGeom>
          <a:solidFill>
            <a:srgbClr val="30736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613779" y="4624973"/>
            <a:ext cx="1115568" cy="29260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2F2F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Eliminação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80464" y="4977398"/>
            <a:ext cx="1591056" cy="32918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2340"/>
              </a:lnSpc>
              <a:buNone/>
            </a:pPr>
            <a:r>
              <a:rPr lang="en-US" sz="1950" b="1" dirty="0">
                <a:solidFill>
                  <a:srgbClr val="F2F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Fim do Excel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8763000" y="3996323"/>
            <a:ext cx="2667000" cy="1905000"/>
          </a:xfrm>
          <a:prstGeom prst="roundRect">
            <a:avLst>
              <a:gd name="adj" fmla="val 3000"/>
            </a:avLst>
          </a:prstGeom>
          <a:solidFill>
            <a:srgbClr val="30736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9313926" y="4624973"/>
            <a:ext cx="1618488" cy="29260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2F2F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Monitoramento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386649" y="4977398"/>
            <a:ext cx="1490472" cy="32918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2340"/>
              </a:lnSpc>
              <a:buNone/>
            </a:pPr>
            <a:r>
              <a:rPr lang="en-US" sz="1950" b="1" dirty="0">
                <a:solidFill>
                  <a:srgbClr val="F2F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Tempo Real</a:t>
            </a:r>
            <a:endParaRPr lang="en-US" sz="1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146304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713408"/>
            <a:ext cx="6638544" cy="5303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3780"/>
              </a:lnSpc>
              <a:buNone/>
            </a:pPr>
            <a:r>
              <a:rPr lang="en-US" sz="3150" b="1" dirty="0">
                <a:solidFill>
                  <a:srgbClr val="122A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Objetivo Central da Plataforma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762000" y="1287661"/>
            <a:ext cx="6446520" cy="51206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95"/>
              </a:lnSpc>
              <a:buNone/>
            </a:pPr>
            <a:r>
              <a:rPr lang="en-US" sz="1425" kern="0" spc="30" dirty="0">
                <a:solidFill>
                  <a:srgbClr val="1E53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Code_Assessment: Avaliação e gestão estratégica da maturidade de segurança da informação.</a:t>
            </a:r>
            <a:endParaRPr lang="en-US" sz="1425" dirty="0"/>
          </a:p>
        </p:txBody>
      </p:sp>
      <p:sp>
        <p:nvSpPr>
          <p:cNvPr id="5" name="Text 3"/>
          <p:cNvSpPr/>
          <p:nvPr/>
        </p:nvSpPr>
        <p:spPr>
          <a:xfrm>
            <a:off x="762000" y="2269629"/>
            <a:ext cx="1993392" cy="521208"/>
          </a:xfrm>
          <a:prstGeom prst="rect">
            <a:avLst/>
          </a:prstGeom>
          <a:noFill/>
          <a:ln/>
        </p:spPr>
        <p:txBody>
          <a:bodyPr vert="horz" wrap="square" lIns="0" tIns="0" rIns="238125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07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Avaliar Maturidade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62000" y="2926854"/>
            <a:ext cx="1984248" cy="1143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25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Foca em analisar o nível atual de segurança, identificando prontidão contra riscos e ameaças humanas.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2990850" y="2269629"/>
            <a:ext cx="2039112" cy="292608"/>
          </a:xfrm>
          <a:prstGeom prst="rect">
            <a:avLst/>
          </a:prstGeom>
          <a:noFill/>
          <a:ln/>
        </p:spPr>
        <p:txBody>
          <a:bodyPr vert="horz" wrap="none" lIns="0" tIns="0" rIns="238125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07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Medir Controles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990850" y="2669679"/>
            <a:ext cx="1984248" cy="1143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25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Permite medir a implementação de controles técnicos e coletar evidências sólidas para auditorias.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5219700" y="2269629"/>
            <a:ext cx="1993392" cy="521208"/>
          </a:xfrm>
          <a:prstGeom prst="rect">
            <a:avLst/>
          </a:prstGeom>
          <a:noFill/>
          <a:ln/>
        </p:spPr>
        <p:txBody>
          <a:bodyPr vert="horz" wrap="square" lIns="0" tIns="0" rIns="238125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07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Gerenciar Lacunas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219700" y="2926854"/>
            <a:ext cx="1984248" cy="1143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25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Identifica vulnerabilidades e gerencia planos de ação com rastreabilidade total para conformidade contínua.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762000" y="4178114"/>
            <a:ext cx="6400800" cy="1600200"/>
          </a:xfrm>
          <a:prstGeom prst="rect">
            <a:avLst/>
          </a:prstGeom>
          <a:solidFill>
            <a:srgbClr val="30736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047750" y="4463864"/>
            <a:ext cx="1993392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2F2F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Gestão de GRC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47750" y="4730564"/>
            <a:ext cx="1993392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2F2F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Auditoria Total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238500" y="4463864"/>
            <a:ext cx="3675888" cy="10332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125" dirty="0">
                <a:solidFill>
                  <a:srgbClr val="F2F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plataforma assegura que cada lacuna seja tratada com visibilidade total, permitindo uma governança de TI adaptada aos novos frameworks globais e garantindo rastreabilidade permanente.</a:t>
            </a:r>
            <a:endParaRPr lang="en-US" sz="1125" dirty="0"/>
          </a:p>
        </p:txBody>
      </p:sp>
      <p:pic>
        <p:nvPicPr>
          <p:cNvPr id="15" name="Image 0" descr="image.png"/>
          <p:cNvPicPr>
            <a:picLocks noChangeAspect="1"/>
          </p:cNvPicPr>
          <p:nvPr/>
        </p:nvPicPr>
        <p:blipFill>
          <a:blip r:embed="rId3"/>
          <a:srcRect r="58529"/>
          <a:stretch/>
        </p:blipFill>
        <p:spPr>
          <a:xfrm>
            <a:off x="7924800" y="0"/>
            <a:ext cx="4267200" cy="614630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21122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6096000" cy="6211229"/>
          </a:xfrm>
          <a:prstGeom prst="rect">
            <a:avLst/>
          </a:prstGeom>
          <a:solidFill>
            <a:srgbClr val="30736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0" y="0"/>
            <a:ext cx="6096000" cy="621122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76250" y="1714500"/>
            <a:ext cx="5143500" cy="3429000"/>
          </a:xfrm>
          <a:prstGeom prst="rect">
            <a:avLst/>
          </a:prstGeom>
          <a:solidFill>
            <a:srgbClr val="CCCCC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Image 0" descr="image.png"/>
          <p:cNvPicPr>
            <a:picLocks noChangeAspect="1"/>
          </p:cNvPicPr>
          <p:nvPr/>
        </p:nvPicPr>
        <p:blipFill>
          <a:blip r:embed="rId3"/>
          <a:srcRect b="20"/>
          <a:stretch/>
        </p:blipFill>
        <p:spPr>
          <a:xfrm>
            <a:off x="476250" y="1714500"/>
            <a:ext cx="5143500" cy="3429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67500" y="762893"/>
            <a:ext cx="5047488" cy="8686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3420"/>
              </a:lnSpc>
              <a:buNone/>
            </a:pPr>
            <a:r>
              <a:rPr lang="en-US" sz="2850" b="1" dirty="0">
                <a:solidFill>
                  <a:srgbClr val="122A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Alinhamento Normativo e Frameworks</a:t>
            </a:r>
            <a:endParaRPr lang="en-US" sz="2850" dirty="0"/>
          </a:p>
        </p:txBody>
      </p:sp>
      <p:sp>
        <p:nvSpPr>
          <p:cNvPr id="8" name="Text 5"/>
          <p:cNvSpPr/>
          <p:nvPr/>
        </p:nvSpPr>
        <p:spPr>
          <a:xfrm>
            <a:off x="6667500" y="1724844"/>
            <a:ext cx="5102352" cy="31089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350" dirty="0">
                <a:solidFill>
                  <a:srgbClr val="1E53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Code_Assessment: Plataforma de Gestão de Segurança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667500" y="2426791"/>
            <a:ext cx="5111496" cy="310896"/>
          </a:xfrm>
          <a:prstGeom prst="rect">
            <a:avLst/>
          </a:prstGeom>
          <a:noFill/>
          <a:ln/>
        </p:spPr>
        <p:txBody>
          <a:bodyPr vert="horz" wrap="none" lIns="0" tIns="0" rIns="285750" bIns="0" rtlCol="0" anchor="t">
            <a:normAutofit/>
          </a:bodyPr>
          <a:lstStyle/>
          <a:p>
            <a:pPr marL="0" indent="0" algn="l">
              <a:lnSpc>
                <a:spcPts val="2145"/>
              </a:lnSpc>
              <a:buNone/>
            </a:pPr>
            <a:r>
              <a:rPr lang="en-US" sz="1650" b="1" dirty="0">
                <a:solidFill>
                  <a:srgbClr val="122A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Conformidade ISO/IEC 27001 &amp; 27002 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6667500" y="2777282"/>
            <a:ext cx="4992624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1800"/>
              </a:lnSpc>
              <a:buNone/>
            </a:pPr>
            <a:r>
              <a:rPr lang="en-US" sz="1125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Garantimos conformidade rigorosa com as normas 2022 para gestão de segurança, assegurando padrões internacionais de proteção de dados.</a:t>
            </a:r>
            <a:endParaRPr lang="en-US" sz="1125" dirty="0"/>
          </a:p>
        </p:txBody>
      </p:sp>
      <p:sp>
        <p:nvSpPr>
          <p:cNvPr id="11" name="Text 8"/>
          <p:cNvSpPr/>
          <p:nvPr/>
        </p:nvSpPr>
        <p:spPr>
          <a:xfrm>
            <a:off x="6667500" y="3565922"/>
            <a:ext cx="5111496" cy="310896"/>
          </a:xfrm>
          <a:prstGeom prst="rect">
            <a:avLst/>
          </a:prstGeom>
          <a:noFill/>
          <a:ln/>
        </p:spPr>
        <p:txBody>
          <a:bodyPr vert="horz" wrap="none" lIns="0" tIns="0" rIns="285750" bIns="0" rtlCol="0" anchor="t">
            <a:normAutofit/>
          </a:bodyPr>
          <a:lstStyle/>
          <a:p>
            <a:pPr marL="0" indent="0" algn="l">
              <a:lnSpc>
                <a:spcPts val="2145"/>
              </a:lnSpc>
              <a:buNone/>
            </a:pPr>
            <a:r>
              <a:rPr lang="en-US" sz="1650" b="1" dirty="0">
                <a:solidFill>
                  <a:srgbClr val="307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LGPD e Frameworks de GRC 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6667500" y="3916412"/>
            <a:ext cx="4992624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1800"/>
              </a:lnSpc>
              <a:buNone/>
            </a:pPr>
            <a:r>
              <a:rPr lang="en-US" sz="1125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Oferecemos adequação total à LGPD e suporte estruturado para auditorias internas e requisitos de segurança cibernética avançada.</a:t>
            </a:r>
            <a:endParaRPr lang="en-US" sz="11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110868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8058" y="401446"/>
            <a:ext cx="5399934" cy="5452944"/>
          </a:xfrm>
          <a:prstGeom prst="roundRect">
            <a:avLst>
              <a:gd name="adj" fmla="val 141176"/>
            </a:avLst>
          </a:prstGeom>
          <a:noFill/>
          <a:ln w="9525">
            <a:solidFill>
              <a:srgbClr val="1E5359">
                <a:alpha val="3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27206" y="1143820"/>
            <a:ext cx="3970539" cy="4009518"/>
          </a:xfrm>
          <a:prstGeom prst="roundRect">
            <a:avLst>
              <a:gd name="adj" fmla="val 192000"/>
            </a:avLst>
          </a:prstGeom>
          <a:noFill/>
          <a:ln w="9525">
            <a:solidFill>
              <a:srgbClr val="1E5359">
                <a:alpha val="3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304226" y="1803710"/>
            <a:ext cx="2699969" cy="2726472"/>
          </a:xfrm>
          <a:prstGeom prst="roundRect">
            <a:avLst>
              <a:gd name="adj" fmla="val 282353"/>
            </a:avLst>
          </a:prstGeom>
          <a:solidFill>
            <a:srgbClr val="30736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580951" y="2598767"/>
            <a:ext cx="2157433" cy="26944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F2F2F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Causas Raízes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577814" y="3021265"/>
            <a:ext cx="2134562" cy="19245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050" dirty="0">
                <a:solidFill>
                  <a:srgbClr val="F2F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Processos dependentes de planilhas.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577814" y="3297490"/>
            <a:ext cx="2134562" cy="19245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050" dirty="0">
                <a:solidFill>
                  <a:srgbClr val="F2F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Documentos dispersos em pastas.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577814" y="3573715"/>
            <a:ext cx="2134562" cy="19245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050" dirty="0">
                <a:solidFill>
                  <a:srgbClr val="F2F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Uso excessivo de e-mails manuais.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715000" y="857250"/>
            <a:ext cx="5815584" cy="105156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122A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 Problema: Fragmentação de Dados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715000" y="1981200"/>
            <a:ext cx="5879592" cy="2286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dirty="0">
                <a:solidFill>
                  <a:srgbClr val="1E53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Code_Assessment: Gestão de Segurança da Informação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714999" y="2371651"/>
            <a:ext cx="5982629" cy="1371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2160"/>
              </a:lnSpc>
              <a:buNone/>
            </a:pPr>
            <a:r>
              <a:rPr lang="en-US" sz="1200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gestão atual enfrenta a fragmentação de processos dependentes de planilhas e e-mails, resultando em documentação dispersa em pastas e PDFs que comprometem a eficiência operacional. Essa falta de integração centralizada gera redundâncias e lacunas críticas na proteção das informações.</a:t>
            </a:r>
            <a:endParaRPr lang="en-US" sz="1200" dirty="0"/>
          </a:p>
        </p:txBody>
      </p:sp>
      <p:pic>
        <p:nvPicPr>
          <p:cNvPr id="13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25716" y="4295626"/>
            <a:ext cx="476250" cy="47625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449690" y="4124176"/>
            <a:ext cx="5138928" cy="32004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122A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Riscos de Conformidade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6449690" y="4486126"/>
            <a:ext cx="5120640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25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Controles manuais ineficientes aumentam riscos.</a:t>
            </a:r>
            <a:endParaRPr lang="en-US" sz="1125" dirty="0"/>
          </a:p>
        </p:txBody>
      </p:sp>
      <p:sp>
        <p:nvSpPr>
          <p:cNvPr id="16" name="Text 13"/>
          <p:cNvSpPr/>
          <p:nvPr/>
        </p:nvSpPr>
        <p:spPr>
          <a:xfrm>
            <a:off x="6449690" y="4714726"/>
            <a:ext cx="5120640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25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Necessidade de gestão integrada até 2026.</a:t>
            </a:r>
            <a:endParaRPr lang="en-US" sz="11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177776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54368" y="571500"/>
            <a:ext cx="10981944" cy="58521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122A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Code_Assessment: Plataforma de Gestão de SI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4796" y="1238250"/>
            <a:ext cx="10936224" cy="28346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980"/>
              </a:lnSpc>
              <a:buNone/>
            </a:pPr>
            <a:r>
              <a:rPr lang="en-US" sz="1650" dirty="0">
                <a:solidFill>
                  <a:srgbClr val="1E53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Impacto 1: Falta de Rastreabilidade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62000" y="2057400"/>
            <a:ext cx="5143500" cy="4038600"/>
          </a:xfrm>
          <a:prstGeom prst="rect">
            <a:avLst/>
          </a:prstGeom>
          <a:solidFill>
            <a:srgbClr val="122A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238250" y="2533650"/>
            <a:ext cx="4325112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307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VISIBILIDADE CRÍTICA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238250" y="2904083"/>
            <a:ext cx="4261104" cy="7040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730"/>
              </a:lnSpc>
              <a:buNone/>
            </a:pPr>
            <a:r>
              <a:rPr lang="en-US" sz="2100" b="1" dirty="0">
                <a:solidFill>
                  <a:srgbClr val="F2F2F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Identificação Ineficiente e Ausência de Histórico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238250" y="3934048"/>
            <a:ext cx="4242816" cy="15361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2423"/>
              </a:lnSpc>
              <a:buNone/>
            </a:pPr>
            <a:r>
              <a:rPr lang="en-US" sz="1425" dirty="0">
                <a:solidFill>
                  <a:srgbClr val="F2F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Dificuldade crítica em determinar quem respondeu aos controles e em qual momento. A inexistência de registros sobre aprovações, revisões e mudanças de status anterior compromete a auditoria interna.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6286500" y="2057400"/>
            <a:ext cx="5143500" cy="40386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772275" y="2543175"/>
            <a:ext cx="4306824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307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GESTÃO OPERACIONAL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772275" y="2913608"/>
            <a:ext cx="4242816" cy="7040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730"/>
              </a:lnSpc>
              <a:buNone/>
            </a:pPr>
            <a:r>
              <a:rPr lang="en-US" sz="2100" b="1" dirty="0">
                <a:solidFill>
                  <a:srgbClr val="122A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Monitoramento de Prazos e Responsabilidades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772275" y="3943573"/>
            <a:ext cx="4224528" cy="15361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2423"/>
              </a:lnSpc>
              <a:buNone/>
            </a:pPr>
            <a:r>
              <a:rPr lang="en-US" sz="1425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Ações corretivas sem responsáveis claros ou monitoramento de prazos definido. Esta lacuna gera vulnerabilidades operacionais severas e impede a gestão proativa de riscos de segurança da informação.</a:t>
            </a:r>
            <a:endParaRPr lang="en-US" sz="14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951166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762893"/>
            <a:ext cx="4379976" cy="8686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3420"/>
              </a:lnSpc>
              <a:buNone/>
            </a:pPr>
            <a:r>
              <a:rPr lang="en-US" sz="2850" b="1" dirty="0">
                <a:solidFill>
                  <a:srgbClr val="122A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Impacto 2: Evidências Dispersas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762000" y="1726704"/>
            <a:ext cx="4334256" cy="51206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1995"/>
              </a:lnSpc>
              <a:buNone/>
            </a:pPr>
            <a:r>
              <a:rPr lang="en-US" sz="1425" dirty="0">
                <a:solidFill>
                  <a:srgbClr val="1E53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Desafios na gestão de conformidade e integridade dos ativos de segurança.</a:t>
            </a:r>
            <a:endParaRPr lang="en-US" sz="1425" dirty="0"/>
          </a:p>
        </p:txBody>
      </p:sp>
      <p:sp>
        <p:nvSpPr>
          <p:cNvPr id="5" name="Text 3"/>
          <p:cNvSpPr/>
          <p:nvPr/>
        </p:nvSpPr>
        <p:spPr>
          <a:xfrm>
            <a:off x="762000" y="2708672"/>
            <a:ext cx="4434840" cy="34747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07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Fragmentação de Dados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2000" y="3163788"/>
            <a:ext cx="4334256" cy="110642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2167"/>
              </a:lnSpc>
              <a:buNone/>
            </a:pPr>
            <a:r>
              <a:rPr lang="en-US" sz="1275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dispersão de evidências em plataformas como Google Drive, SharePoint e máquinas locais compromete a rastreabilidade necessária para auditorias eficientes.</a:t>
            </a:r>
            <a:endParaRPr lang="en-US" sz="1275" dirty="0"/>
          </a:p>
        </p:txBody>
      </p:sp>
      <p:sp>
        <p:nvSpPr>
          <p:cNvPr id="7" name="Text 5"/>
          <p:cNvSpPr/>
          <p:nvPr/>
        </p:nvSpPr>
        <p:spPr>
          <a:xfrm>
            <a:off x="5619750" y="762000"/>
            <a:ext cx="2809875" cy="1781175"/>
          </a:xfrm>
          <a:prstGeom prst="roundRect">
            <a:avLst>
              <a:gd name="adj" fmla="val 3209"/>
            </a:avLst>
          </a:prstGeom>
          <a:solidFill>
            <a:srgbClr val="30736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857875" y="1162050"/>
            <a:ext cx="2432304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2F2F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Dados Isolados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857875" y="1466850"/>
            <a:ext cx="2377440" cy="4023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dirty="0">
                <a:solidFill>
                  <a:srgbClr val="F2F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Armazenamento descentralizado em silos de informação locais.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5857875" y="1981200"/>
            <a:ext cx="2423160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50" kern="0" spc="30" dirty="0">
                <a:solidFill>
                  <a:srgbClr val="F2F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RISCO: PERDA DE HISTÓRICO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20125" y="762000"/>
            <a:ext cx="2809875" cy="1781175"/>
          </a:xfrm>
          <a:prstGeom prst="roundRect">
            <a:avLst>
              <a:gd name="adj" fmla="val 3209"/>
            </a:avLst>
          </a:prstGeom>
          <a:solidFill>
            <a:srgbClr val="FFFFFF"/>
          </a:solidFill>
          <a:ln w="9525">
            <a:solidFill>
              <a:srgbClr val="1E535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867775" y="1009650"/>
            <a:ext cx="2404872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1E535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Complexidade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867775" y="1314450"/>
            <a:ext cx="2404872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122A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Processos de Auditoria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867775" y="1619250"/>
            <a:ext cx="2359152" cy="4023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Dificuldade crítica na coleta e validação de documentos.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8867775" y="2133600"/>
            <a:ext cx="2395728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50" kern="0" spc="30" dirty="0">
                <a:solidFill>
                  <a:srgbClr val="1E53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STATUS: ALERTA CRÍTICO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619750" y="2733675"/>
            <a:ext cx="2809875" cy="1781175"/>
          </a:xfrm>
          <a:prstGeom prst="roundRect">
            <a:avLst>
              <a:gd name="adj" fmla="val 3209"/>
            </a:avLst>
          </a:prstGeom>
          <a:solidFill>
            <a:srgbClr val="FFFFFF"/>
          </a:solidFill>
          <a:ln w="9525">
            <a:solidFill>
              <a:srgbClr val="1E535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867400" y="2981325"/>
            <a:ext cx="2404872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1E535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Segurança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867400" y="3286125"/>
            <a:ext cx="2404872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122A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Informação Estratégica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867400" y="3590925"/>
            <a:ext cx="2359152" cy="4023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Mitigar o risco de perda de dados vitais ao negócio.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5867400" y="4105275"/>
            <a:ext cx="2395728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50" kern="0" spc="30" dirty="0">
                <a:solidFill>
                  <a:srgbClr val="1E53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META: CENTRALIZAÇÃO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620125" y="2733675"/>
            <a:ext cx="2809875" cy="1781175"/>
          </a:xfrm>
          <a:prstGeom prst="roundRect">
            <a:avLst>
              <a:gd name="adj" fmla="val 3209"/>
            </a:avLst>
          </a:prstGeom>
          <a:solidFill>
            <a:srgbClr val="30736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858250" y="3133725"/>
            <a:ext cx="2432304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2F2F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Governança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858250" y="3438525"/>
            <a:ext cx="2377440" cy="4023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125" dirty="0">
                <a:solidFill>
                  <a:srgbClr val="F2F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Necessidade de um repositório único e auditável.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8858250" y="3952875"/>
            <a:ext cx="2423160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50" kern="0" spc="30" dirty="0">
                <a:solidFill>
                  <a:srgbClr val="F2F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AÇÃO: PADRONIZAÇÃO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619750" y="4800600"/>
            <a:ext cx="5989320" cy="34747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07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Estratégia de Mitigação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619750" y="5256758"/>
            <a:ext cx="5852160" cy="55778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2167"/>
              </a:lnSpc>
              <a:buNone/>
            </a:pPr>
            <a:r>
              <a:rPr lang="en-US" sz="1275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centralização é vital para garantir que informações estratégicas estejam protegidas e acessíveis, reduzindo vulnerabilidades operacionais.</a:t>
            </a:r>
            <a:endParaRPr lang="en-US" sz="12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133171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14375" y="1285875"/>
            <a:ext cx="5715000" cy="4286250"/>
          </a:xfrm>
          <a:prstGeom prst="rect">
            <a:avLst/>
          </a:prstGeom>
          <a:solidFill>
            <a:srgbClr val="1E535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" name="Image 0" descr="image.png"/>
          <p:cNvPicPr>
            <a:picLocks noChangeAspect="1"/>
          </p:cNvPicPr>
          <p:nvPr/>
        </p:nvPicPr>
        <p:blipFill>
          <a:blip r:embed="rId3"/>
          <a:srcRect b="25000"/>
          <a:stretch/>
        </p:blipFill>
        <p:spPr>
          <a:xfrm>
            <a:off x="714375" y="1285875"/>
            <a:ext cx="5715000" cy="42862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191375" y="1504950"/>
            <a:ext cx="762000" cy="762000"/>
          </a:xfrm>
          <a:prstGeom prst="roundRect">
            <a:avLst>
              <a:gd name="adj" fmla="val 1200000"/>
            </a:avLst>
          </a:prstGeom>
          <a:solidFill>
            <a:srgbClr val="122A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Image 1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419975" y="1733550"/>
            <a:ext cx="304800" cy="304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239125" y="1352550"/>
            <a:ext cx="3364992" cy="320040"/>
          </a:xfrm>
          <a:prstGeom prst="rect">
            <a:avLst/>
          </a:prstGeom>
          <a:noFill/>
          <a:ln/>
        </p:spPr>
        <p:txBody>
          <a:bodyPr vert="horz" wrap="none" lIns="0" tIns="0" rIns="238125" bIns="0" rtlCol="0" anchor="t">
            <a:normAutofit/>
          </a:bodyPr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122A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Consolidação de Dados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8239125" y="1733550"/>
            <a:ext cx="3282696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1800"/>
              </a:lnSpc>
              <a:buNone/>
            </a:pPr>
            <a:r>
              <a:rPr lang="en-US" sz="1125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Alto tempo gasto em processos manuais e cálculos complexos, gerando lentidão na entrega de resultados estratégicos.</a:t>
            </a:r>
            <a:endParaRPr lang="en-US" sz="1125" dirty="0"/>
          </a:p>
        </p:txBody>
      </p:sp>
      <p:sp>
        <p:nvSpPr>
          <p:cNvPr id="9" name="Text 5"/>
          <p:cNvSpPr/>
          <p:nvPr/>
        </p:nvSpPr>
        <p:spPr>
          <a:xfrm>
            <a:off x="7191375" y="3048000"/>
            <a:ext cx="762000" cy="762000"/>
          </a:xfrm>
          <a:prstGeom prst="roundRect">
            <a:avLst>
              <a:gd name="adj" fmla="val 1200000"/>
            </a:avLst>
          </a:prstGeom>
          <a:solidFill>
            <a:srgbClr val="30736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0" name="Image 2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419975" y="3276600"/>
            <a:ext cx="304800" cy="3048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239125" y="2895600"/>
            <a:ext cx="3364992" cy="320040"/>
          </a:xfrm>
          <a:prstGeom prst="rect">
            <a:avLst/>
          </a:prstGeom>
          <a:noFill/>
          <a:ln/>
        </p:spPr>
        <p:txBody>
          <a:bodyPr vert="horz" wrap="none" lIns="0" tIns="0" rIns="238125" bIns="0" rtlCol="0" anchor="t">
            <a:normAutofit/>
          </a:bodyPr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1E535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Risco de Erros Humanos</a:t>
            </a:r>
            <a:endParaRPr lang="en-US" sz="1650" dirty="0"/>
          </a:p>
        </p:txBody>
      </p:sp>
      <p:sp>
        <p:nvSpPr>
          <p:cNvPr id="12" name="Text 7"/>
          <p:cNvSpPr/>
          <p:nvPr/>
        </p:nvSpPr>
        <p:spPr>
          <a:xfrm>
            <a:off x="8239125" y="3276600"/>
            <a:ext cx="3282696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1800"/>
              </a:lnSpc>
              <a:buNone/>
            </a:pPr>
            <a:r>
              <a:rPr lang="en-US" sz="1125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Esforço excessivo para construção de gráficos, aumentando a margem de falhas em relatórios técnicos fundamentais.</a:t>
            </a:r>
            <a:endParaRPr lang="en-US" sz="1125" dirty="0"/>
          </a:p>
        </p:txBody>
      </p:sp>
      <p:sp>
        <p:nvSpPr>
          <p:cNvPr id="13" name="Text 8"/>
          <p:cNvSpPr/>
          <p:nvPr/>
        </p:nvSpPr>
        <p:spPr>
          <a:xfrm>
            <a:off x="7191375" y="4591050"/>
            <a:ext cx="762000" cy="762000"/>
          </a:xfrm>
          <a:prstGeom prst="roundRect">
            <a:avLst>
              <a:gd name="adj" fmla="val 1200000"/>
            </a:avLst>
          </a:prstGeom>
          <a:solidFill>
            <a:srgbClr val="122A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4" name="Image 3" descr="imag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419975" y="4819650"/>
            <a:ext cx="304800" cy="3048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239125" y="4438650"/>
            <a:ext cx="3364992" cy="320040"/>
          </a:xfrm>
          <a:prstGeom prst="rect">
            <a:avLst/>
          </a:prstGeom>
          <a:noFill/>
          <a:ln/>
        </p:spPr>
        <p:txBody>
          <a:bodyPr vert="horz" wrap="none" lIns="0" tIns="0" rIns="238125" bIns="0" rtlCol="0" anchor="t">
            <a:normAutofit/>
          </a:bodyPr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122A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Solução Code_Assessment</a:t>
            </a:r>
            <a:endParaRPr lang="en-US" sz="1650" dirty="0"/>
          </a:p>
        </p:txBody>
      </p:sp>
      <p:sp>
        <p:nvSpPr>
          <p:cNvPr id="16" name="Text 10"/>
          <p:cNvSpPr/>
          <p:nvPr/>
        </p:nvSpPr>
        <p:spPr>
          <a:xfrm>
            <a:off x="8239125" y="4819650"/>
            <a:ext cx="3282696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1800"/>
              </a:lnSpc>
              <a:buNone/>
            </a:pPr>
            <a:r>
              <a:rPr lang="en-US" sz="1125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Combate a ineficiência através da automação, garantindo precisão nos indicadores e agilidade na tomada de decisão.</a:t>
            </a:r>
            <a:endParaRPr lang="en-US" sz="1125" dirty="0"/>
          </a:p>
        </p:txBody>
      </p:sp>
      <p:sp>
        <p:nvSpPr>
          <p:cNvPr id="17" name="Text 11"/>
          <p:cNvSpPr/>
          <p:nvPr/>
        </p:nvSpPr>
        <p:spPr>
          <a:xfrm>
            <a:off x="872350" y="228600"/>
            <a:ext cx="8728850" cy="8686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3600"/>
              </a:lnSpc>
            </a:pPr>
            <a:r>
              <a:rPr lang="en-US" sz="3000" b="1" dirty="0">
                <a:solidFill>
                  <a:srgbClr val="122A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Impacto 3: Relatórios Manuais</a:t>
            </a:r>
          </a:p>
        </p:txBody>
      </p:sp>
      <p:sp>
        <p:nvSpPr>
          <p:cNvPr id="18" name="Text 12"/>
          <p:cNvSpPr/>
          <p:nvPr/>
        </p:nvSpPr>
        <p:spPr>
          <a:xfrm>
            <a:off x="993648" y="848678"/>
            <a:ext cx="5102352" cy="2286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fontScale="77500" lnSpcReduction="20000"/>
          </a:bodyPr>
          <a:lstStyle/>
          <a:p>
            <a:pPr>
              <a:lnSpc>
                <a:spcPts val="1980"/>
              </a:lnSpc>
            </a:pPr>
            <a:r>
              <a:rPr lang="en-US" sz="1650" b="1" dirty="0">
                <a:solidFill>
                  <a:srgbClr val="1E535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Ineficiência Operacional e Riscos na Gestão de Dados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02165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990600"/>
            <a:ext cx="4389120" cy="87782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3465"/>
              </a:lnSpc>
              <a:buNone/>
            </a:pPr>
            <a:r>
              <a:rPr lang="en-US" sz="3150" b="1" dirty="0">
                <a:solidFill>
                  <a:srgbClr val="122A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Solução: Code_Assessment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762000" y="1963936"/>
            <a:ext cx="4334256" cy="4389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710"/>
              </a:lnSpc>
              <a:buNone/>
            </a:pPr>
            <a:r>
              <a:rPr lang="en-US" sz="1425" dirty="0">
                <a:solidFill>
                  <a:srgbClr val="1E53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Plataforma de Gestão de Segurança da Informação</a:t>
            </a:r>
            <a:endParaRPr lang="en-US" sz="1425" dirty="0"/>
          </a:p>
        </p:txBody>
      </p:sp>
      <p:sp>
        <p:nvSpPr>
          <p:cNvPr id="5" name="Text 3"/>
          <p:cNvSpPr/>
          <p:nvPr/>
        </p:nvSpPr>
        <p:spPr>
          <a:xfrm>
            <a:off x="762000" y="2878336"/>
            <a:ext cx="4425696" cy="32004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122A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Governança Centralizada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62000" y="3306961"/>
            <a:ext cx="4325112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1800"/>
              </a:lnSpc>
              <a:buNone/>
            </a:pPr>
            <a:r>
              <a:rPr lang="en-US" sz="1125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Centralização total de controles, riscos e responsáveis em uma plataforma SaaS moderna para gestão eficiente de cibersegurança.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762000" y="4373761"/>
            <a:ext cx="4425696" cy="32004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122A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Monitoramento Proativo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762000" y="4802386"/>
            <a:ext cx="4325112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1800"/>
              </a:lnSpc>
              <a:buNone/>
            </a:pPr>
            <a:r>
              <a:rPr lang="en-US" sz="1125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Recomendado por CISOs para automação de relatórios técnicos e executivos, facilitando decisões ágeis e conformidade integrada.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5429250" y="1428750"/>
            <a:ext cx="1905000" cy="1905000"/>
          </a:xfrm>
          <a:prstGeom prst="rect">
            <a:avLst/>
          </a:prstGeom>
          <a:solidFill>
            <a:srgbClr val="122A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619750" y="2124075"/>
            <a:ext cx="1572768" cy="5212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2F2F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Controle de Evidências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524750" y="1428750"/>
            <a:ext cx="1905000" cy="1905000"/>
          </a:xfrm>
          <a:prstGeom prst="rect">
            <a:avLst/>
          </a:prstGeom>
          <a:solidFill>
            <a:srgbClr val="30736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715250" y="2124075"/>
            <a:ext cx="1572768" cy="5212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2F2F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Gestão de Riscos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620250" y="1428750"/>
            <a:ext cx="1905000" cy="1905000"/>
          </a:xfrm>
          <a:prstGeom prst="rect">
            <a:avLst/>
          </a:prstGeom>
          <a:solidFill>
            <a:srgbClr val="122A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810750" y="2124075"/>
            <a:ext cx="1572768" cy="5212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2F2F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Relatórios Ágeis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29250" y="3524250"/>
            <a:ext cx="1905000" cy="1905000"/>
          </a:xfrm>
          <a:prstGeom prst="rect">
            <a:avLst/>
          </a:prstGeom>
          <a:solidFill>
            <a:srgbClr val="30736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619750" y="4219575"/>
            <a:ext cx="1572768" cy="5212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2F2F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Ambiente Integrado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524750" y="3524250"/>
            <a:ext cx="1905000" cy="1905000"/>
          </a:xfrm>
          <a:prstGeom prst="rect">
            <a:avLst/>
          </a:prstGeom>
          <a:solidFill>
            <a:srgbClr val="122A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715250" y="4219575"/>
            <a:ext cx="1572768" cy="5212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2F2F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Decisões Técnicas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620250" y="3524250"/>
            <a:ext cx="1905000" cy="1905000"/>
          </a:xfrm>
          <a:prstGeom prst="rect">
            <a:avLst/>
          </a:prstGeom>
          <a:solidFill>
            <a:srgbClr val="30736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9877616" y="4348163"/>
            <a:ext cx="1444752" cy="29260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2F2F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SaaS Moderno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222380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14375" y="1047750"/>
            <a:ext cx="5715000" cy="4762500"/>
          </a:xfrm>
          <a:prstGeom prst="rect">
            <a:avLst/>
          </a:prstGeom>
          <a:solidFill>
            <a:srgbClr val="30736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" name="Image 0" descr="image.png"/>
          <p:cNvPicPr>
            <a:picLocks noChangeAspect="1"/>
          </p:cNvPicPr>
          <p:nvPr/>
        </p:nvPicPr>
        <p:blipFill>
          <a:blip r:embed="rId3"/>
          <a:srcRect r="19858"/>
          <a:stretch/>
        </p:blipFill>
        <p:spPr>
          <a:xfrm>
            <a:off x="714375" y="1047750"/>
            <a:ext cx="5715000" cy="4762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6372" y="182212"/>
            <a:ext cx="8226115" cy="8686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3420"/>
              </a:lnSpc>
              <a:buNone/>
            </a:pPr>
            <a:r>
              <a:rPr lang="en-US" sz="2850" b="1" dirty="0">
                <a:solidFill>
                  <a:srgbClr val="122A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Ciclo de Avaliação: Etapas Iniciais</a:t>
            </a:r>
            <a:endParaRPr lang="en-US" sz="2850" dirty="0"/>
          </a:p>
        </p:txBody>
      </p:sp>
      <p:sp>
        <p:nvSpPr>
          <p:cNvPr id="7" name="Text 4"/>
          <p:cNvSpPr/>
          <p:nvPr/>
        </p:nvSpPr>
        <p:spPr>
          <a:xfrm>
            <a:off x="7001827" y="1145817"/>
            <a:ext cx="4617720" cy="4023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dirty="0">
                <a:solidFill>
                  <a:srgbClr val="1E53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Estruturação organizacional e definição estratégica de conformidade no Code_Assessment.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191375" y="2312938"/>
            <a:ext cx="666750" cy="666750"/>
          </a:xfrm>
          <a:prstGeom prst="roundRect">
            <a:avLst>
              <a:gd name="adj" fmla="val 1371429"/>
            </a:avLst>
          </a:prstGeom>
          <a:solidFill>
            <a:srgbClr val="122A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9" name="Image 1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343775" y="2503438"/>
            <a:ext cx="361950" cy="2857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096250" y="2312938"/>
            <a:ext cx="3502152" cy="292608"/>
          </a:xfrm>
          <a:prstGeom prst="rect">
            <a:avLst/>
          </a:prstGeom>
          <a:noFill/>
          <a:ln/>
        </p:spPr>
        <p:txBody>
          <a:bodyPr vert="horz" wrap="none" lIns="0" tIns="0" rIns="238125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22A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Estrutura e Usuários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8096250" y="2647131"/>
            <a:ext cx="3419856" cy="6400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1680"/>
              </a:lnSpc>
              <a:buNone/>
            </a:pPr>
            <a:r>
              <a:rPr lang="en-US" sz="1050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Início com a criação da estrutura da organização e o cadastro detalhado de todos os usuários na plataforma.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7191375" y="3571875"/>
            <a:ext cx="666750" cy="666750"/>
          </a:xfrm>
          <a:prstGeom prst="roundRect">
            <a:avLst>
              <a:gd name="adj" fmla="val 1371429"/>
            </a:avLst>
          </a:prstGeom>
          <a:solidFill>
            <a:srgbClr val="30736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3" name="Image 2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415213" y="3762375"/>
            <a:ext cx="219075" cy="2857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096250" y="3571875"/>
            <a:ext cx="3502152" cy="292608"/>
          </a:xfrm>
          <a:prstGeom prst="rect">
            <a:avLst/>
          </a:prstGeom>
          <a:noFill/>
          <a:ln/>
        </p:spPr>
        <p:txBody>
          <a:bodyPr vert="horz" wrap="none" lIns="0" tIns="0" rIns="238125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07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Escopo e Atribuição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8096250" y="3906069"/>
            <a:ext cx="3419856" cy="6400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1680"/>
              </a:lnSpc>
              <a:buNone/>
            </a:pPr>
            <a:r>
              <a:rPr lang="en-US" sz="1050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Seleção estratégica do escopo, atribuição de controles aos responsáveis e início da avaliação técnica rigorosa.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110868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937320"/>
            <a:ext cx="4389120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122A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Ciclo de Avaliação: Conclusão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62000" y="1946970"/>
            <a:ext cx="4334256" cy="4023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dirty="0">
                <a:solidFill>
                  <a:srgbClr val="1E53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Gestão de Segurança da Informação e Conformidade.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62000" y="2823270"/>
            <a:ext cx="4425696" cy="32004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307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Análise de Vulnerabilidades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62000" y="3224213"/>
            <a:ext cx="4325112" cy="49377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Anexação de evidências comprobatórias e identificação rigorosa de gaps técnicos e operacionais.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62000" y="4091880"/>
            <a:ext cx="4425696" cy="32004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307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Governança e Relatórios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762000" y="4492823"/>
            <a:ext cx="4325112" cy="49377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Criação de planos de ação corretivos e geração de relatórios para rastreabilidade total do processo.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15000" y="937320"/>
            <a:ext cx="5715000" cy="3810000"/>
          </a:xfrm>
          <a:prstGeom prst="roundRect">
            <a:avLst>
              <a:gd name="adj" fmla="val 2000"/>
            </a:avLst>
          </a:prstGeom>
          <a:solidFill>
            <a:srgbClr val="D1D1D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0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15000" y="937320"/>
            <a:ext cx="5715000" cy="3810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715000" y="5033070"/>
            <a:ext cx="2762250" cy="887611"/>
          </a:xfrm>
          <a:prstGeom prst="roundRect">
            <a:avLst>
              <a:gd name="adj" fmla="val 6439"/>
            </a:avLst>
          </a:prstGeom>
          <a:solidFill>
            <a:srgbClr val="122A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726555" y="5241652"/>
            <a:ext cx="786384" cy="2286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560"/>
              </a:lnSpc>
              <a:buNone/>
            </a:pPr>
            <a:r>
              <a:rPr lang="en-US" sz="1200" dirty="0">
                <a:solidFill>
                  <a:srgbClr val="F2F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Item 6 &amp; 7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328172" y="5490195"/>
            <a:ext cx="1581912" cy="24688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755"/>
              </a:lnSpc>
              <a:buNone/>
            </a:pPr>
            <a:r>
              <a:rPr lang="en-US" sz="1350" b="1" dirty="0">
                <a:solidFill>
                  <a:srgbClr val="F2F2F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Evidências e Gaps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8667750" y="5033070"/>
            <a:ext cx="2762250" cy="887611"/>
          </a:xfrm>
          <a:prstGeom prst="roundRect">
            <a:avLst>
              <a:gd name="adj" fmla="val 6439"/>
            </a:avLst>
          </a:prstGeom>
          <a:solidFill>
            <a:srgbClr val="F2F2F2"/>
          </a:solidFill>
          <a:ln w="19050">
            <a:solidFill>
              <a:srgbClr val="30736C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9674447" y="5241652"/>
            <a:ext cx="795528" cy="2286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560"/>
              </a:lnSpc>
              <a:buNone/>
            </a:pPr>
            <a:r>
              <a:rPr lang="en-US" sz="1200" dirty="0">
                <a:solidFill>
                  <a:srgbClr val="3073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Item 8 &amp; 9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295495" y="5490195"/>
            <a:ext cx="1554480" cy="24688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755"/>
              </a:lnSpc>
              <a:buNone/>
            </a:pPr>
            <a:r>
              <a:rPr lang="en-US" sz="1350" b="1" dirty="0">
                <a:solidFill>
                  <a:srgbClr val="122A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Ação e Relatórios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032810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2192000" cy="2667000"/>
          </a:xfrm>
          <a:prstGeom prst="rect">
            <a:avLst/>
          </a:prstGeom>
          <a:solidFill>
            <a:srgbClr val="122A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54320" y="730523"/>
            <a:ext cx="10991088" cy="5303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3780"/>
              </a:lnSpc>
              <a:buNone/>
            </a:pPr>
            <a:r>
              <a:rPr lang="en-US" sz="3150" b="1" dirty="0">
                <a:solidFill>
                  <a:srgbClr val="F2F2F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Code_Assessment: Gestão de Segurança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1809750" y="1349573"/>
            <a:ext cx="8631936" cy="59436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310"/>
              </a:lnSpc>
              <a:buNone/>
            </a:pPr>
            <a:r>
              <a:rPr lang="en-US" sz="1650" dirty="0">
                <a:solidFill>
                  <a:srgbClr val="F2F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Arquitetura Organizacional e Perfis: Estrutura de Governança e Colaboração para conformidade e proteção de dados.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62000" y="3238500"/>
            <a:ext cx="600075" cy="704850"/>
          </a:xfrm>
          <a:prstGeom prst="roundRect">
            <a:avLst>
              <a:gd name="adj" fmla="val 12698"/>
            </a:avLst>
          </a:prstGeom>
          <a:solidFill>
            <a:srgbClr val="30736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3333750"/>
            <a:ext cx="356616" cy="56692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4050" b="1" dirty="0">
                <a:solidFill>
                  <a:srgbClr val="F2F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4050" dirty="0"/>
          </a:p>
        </p:txBody>
      </p:sp>
      <p:sp>
        <p:nvSpPr>
          <p:cNvPr id="8" name="Text 6"/>
          <p:cNvSpPr/>
          <p:nvPr/>
        </p:nvSpPr>
        <p:spPr>
          <a:xfrm>
            <a:off x="1550938" y="3467026"/>
            <a:ext cx="2624328" cy="28346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1E535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Perfil Administrador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760363" y="4133701"/>
            <a:ext cx="3346704" cy="122529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1920"/>
              </a:lnSpc>
              <a:buNone/>
            </a:pPr>
            <a:r>
              <a:rPr lang="en-US" sz="1200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Responsável pela gestão global do sistema, controle de usuários e manutenção do branding. Essencial para a governança centralizada das operações críticas de cibersegurança da organização.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444901" y="3238500"/>
            <a:ext cx="704850" cy="704850"/>
          </a:xfrm>
          <a:prstGeom prst="roundRect">
            <a:avLst>
              <a:gd name="adj" fmla="val 10811"/>
            </a:avLst>
          </a:prstGeom>
          <a:solidFill>
            <a:srgbClr val="30736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635401" y="3333750"/>
            <a:ext cx="466344" cy="56692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4050" b="1" dirty="0">
                <a:solidFill>
                  <a:srgbClr val="F2F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4050" dirty="0"/>
          </a:p>
        </p:txBody>
      </p:sp>
      <p:sp>
        <p:nvSpPr>
          <p:cNvPr id="12" name="Text 10"/>
          <p:cNvSpPr/>
          <p:nvPr/>
        </p:nvSpPr>
        <p:spPr>
          <a:xfrm>
            <a:off x="5338688" y="3467026"/>
            <a:ext cx="2514600" cy="28346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1E535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Perfil Consultor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4443338" y="4133701"/>
            <a:ext cx="3346704" cy="122529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1920"/>
              </a:lnSpc>
              <a:buNone/>
            </a:pPr>
            <a:r>
              <a:rPr lang="en-US" sz="1200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Focado na gestão técnica das avaliações e análise de gaps. Realiza a revisão minuciosa de evidências e elabora relatórios estratégicos para suportar a tomada de decisão da diretoria.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27950" y="3238500"/>
            <a:ext cx="714375" cy="704850"/>
          </a:xfrm>
          <a:prstGeom prst="roundRect">
            <a:avLst>
              <a:gd name="adj" fmla="val 10811"/>
            </a:avLst>
          </a:prstGeom>
          <a:solidFill>
            <a:srgbClr val="30736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318450" y="3333750"/>
            <a:ext cx="475488" cy="56692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4050" b="1" dirty="0">
                <a:solidFill>
                  <a:srgbClr val="F2F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4050" dirty="0"/>
          </a:p>
        </p:txBody>
      </p:sp>
      <p:sp>
        <p:nvSpPr>
          <p:cNvPr id="16" name="Text 14"/>
          <p:cNvSpPr/>
          <p:nvPr/>
        </p:nvSpPr>
        <p:spPr>
          <a:xfrm>
            <a:off x="9031263" y="3467026"/>
            <a:ext cx="2505456" cy="28346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1E535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Perfil Preposto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8126388" y="4133701"/>
            <a:ext cx="3346704" cy="122529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1920"/>
              </a:lnSpc>
              <a:buNone/>
            </a:pPr>
            <a:r>
              <a:rPr lang="en-US" sz="1200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Atua na execução e resposta direta dos controles. Responsável por anexar evidências e realizar o acompanhamento de pendências em departamentos como TI, RH e Jurídico.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191250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573360"/>
            <a:ext cx="10991088" cy="5303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3780"/>
              </a:lnSpc>
              <a:buNone/>
            </a:pPr>
            <a:r>
              <a:rPr lang="en-US" sz="3150" b="1" dirty="0">
                <a:solidFill>
                  <a:srgbClr val="122A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Code_Assessment: Plataforma de Gestão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762000" y="1194346"/>
            <a:ext cx="10936224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E53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Administração estratégica de segurança da informação e governança operacional escalável.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62000" y="2933254"/>
            <a:ext cx="4286250" cy="0"/>
          </a:xfrm>
          <a:prstGeom prst="line">
            <a:avLst/>
          </a:prstGeom>
          <a:noFill/>
          <a:ln w="19050">
            <a:solidFill>
              <a:srgbClr val="30736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62000" y="2134195"/>
            <a:ext cx="4361688" cy="7040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730"/>
              </a:lnSpc>
              <a:buNone/>
            </a:pPr>
            <a:r>
              <a:rPr lang="en-US" sz="2100" b="1" dirty="0">
                <a:solidFill>
                  <a:srgbClr val="122A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Funcionalidades: Perfil Administrador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62000" y="3132088"/>
            <a:ext cx="4334256" cy="104241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2040"/>
              </a:lnSpc>
              <a:buNone/>
            </a:pPr>
            <a:r>
              <a:rPr lang="en-US" sz="1275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administrador detém controle total sobre a plataforma, possibilitando a gestão centralizada de empresas clientes e usuários através de ferramentas estratégicas.</a:t>
            </a:r>
            <a:endParaRPr lang="en-US" sz="1275" dirty="0"/>
          </a:p>
        </p:txBody>
      </p:sp>
      <p:sp>
        <p:nvSpPr>
          <p:cNvPr id="8" name="Text 6"/>
          <p:cNvSpPr/>
          <p:nvPr/>
        </p:nvSpPr>
        <p:spPr>
          <a:xfrm>
            <a:off x="762000" y="4309914"/>
            <a:ext cx="4334256" cy="78638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2040"/>
              </a:lnSpc>
              <a:buNone/>
            </a:pPr>
            <a:r>
              <a:rPr lang="en-US" sz="1275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sistema oferece configurações avançadas para personalização de branding e definição de planos de assinatura, adaptando-se às necessidades do negócio.</a:t>
            </a:r>
            <a:endParaRPr lang="en-US" sz="1275" dirty="0"/>
          </a:p>
        </p:txBody>
      </p:sp>
      <p:sp>
        <p:nvSpPr>
          <p:cNvPr id="9" name="Text 7"/>
          <p:cNvSpPr/>
          <p:nvPr/>
        </p:nvSpPr>
        <p:spPr>
          <a:xfrm>
            <a:off x="762000" y="5229671"/>
            <a:ext cx="4334256" cy="78638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2040"/>
              </a:lnSpc>
              <a:buNone/>
            </a:pPr>
            <a:r>
              <a:rPr lang="en-US" sz="1275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Realize o monitoramento global de conformidade e garanta a segurança operacional com visibilidade total dos dados e acessos em toda a infraestrutura.</a:t>
            </a:r>
            <a:endParaRPr lang="en-US" sz="1275" dirty="0"/>
          </a:p>
        </p:txBody>
      </p:sp>
      <p:sp>
        <p:nvSpPr>
          <p:cNvPr id="10" name="Text 8"/>
          <p:cNvSpPr/>
          <p:nvPr/>
        </p:nvSpPr>
        <p:spPr>
          <a:xfrm>
            <a:off x="5810250" y="2095500"/>
            <a:ext cx="2667000" cy="1905000"/>
          </a:xfrm>
          <a:prstGeom prst="roundRect">
            <a:avLst>
              <a:gd name="adj" fmla="val 3000"/>
            </a:avLst>
          </a:prstGeom>
          <a:solidFill>
            <a:srgbClr val="1E535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837283" y="2762250"/>
            <a:ext cx="658368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2F2F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Gestão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171676" y="3086100"/>
            <a:ext cx="2002536" cy="28346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980"/>
              </a:lnSpc>
              <a:buNone/>
            </a:pPr>
            <a:r>
              <a:rPr lang="en-US" sz="1650" dirty="0">
                <a:solidFill>
                  <a:srgbClr val="F2F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Clientes e Usuários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8763000" y="2095500"/>
            <a:ext cx="2667000" cy="1905000"/>
          </a:xfrm>
          <a:prstGeom prst="roundRect">
            <a:avLst>
              <a:gd name="adj" fmla="val 3000"/>
            </a:avLst>
          </a:prstGeom>
          <a:solidFill>
            <a:srgbClr val="1E535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620012" y="2762250"/>
            <a:ext cx="996696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2F2F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Identidade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964120" y="3086100"/>
            <a:ext cx="2322576" cy="28346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980"/>
              </a:lnSpc>
              <a:buNone/>
            </a:pPr>
            <a:r>
              <a:rPr lang="en-US" sz="1650" dirty="0">
                <a:solidFill>
                  <a:srgbClr val="F2F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Branding Customizado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5810250" y="4286250"/>
            <a:ext cx="2667000" cy="1905000"/>
          </a:xfrm>
          <a:prstGeom prst="roundRect">
            <a:avLst>
              <a:gd name="adj" fmla="val 3000"/>
            </a:avLst>
          </a:prstGeom>
          <a:solidFill>
            <a:srgbClr val="1E535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706124" y="4953000"/>
            <a:ext cx="923544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2F2F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Comercial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093952" y="5276850"/>
            <a:ext cx="2157984" cy="28346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980"/>
              </a:lnSpc>
              <a:buNone/>
            </a:pPr>
            <a:r>
              <a:rPr lang="en-US" sz="1650" dirty="0">
                <a:solidFill>
                  <a:srgbClr val="F2F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Planos de Assinatura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8763000" y="4286250"/>
            <a:ext cx="2667000" cy="1905000"/>
          </a:xfrm>
          <a:prstGeom prst="roundRect">
            <a:avLst>
              <a:gd name="adj" fmla="val 3000"/>
            </a:avLst>
          </a:prstGeom>
          <a:solidFill>
            <a:srgbClr val="1E535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9717167" y="4953000"/>
            <a:ext cx="804672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2F2F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Controle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998125" y="5276850"/>
            <a:ext cx="2249424" cy="28346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980"/>
              </a:lnSpc>
              <a:buNone/>
            </a:pPr>
            <a:r>
              <a:rPr lang="en-US" sz="1650" dirty="0">
                <a:solidFill>
                  <a:srgbClr val="F2F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Monitoramento Global</a:t>
            </a:r>
            <a:endParaRPr lang="en-US" sz="16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"/>
            <a:ext cx="12192000" cy="619229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665708"/>
            <a:ext cx="6501384" cy="96926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3780"/>
              </a:lnSpc>
              <a:buNone/>
            </a:pPr>
            <a:r>
              <a:rPr lang="en-US" sz="3150" b="1" dirty="0">
                <a:solidFill>
                  <a:srgbClr val="122A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Funcionalidades: Perfil Consultor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762000" y="1770459"/>
            <a:ext cx="6446520" cy="51206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95"/>
              </a:lnSpc>
              <a:buNone/>
            </a:pPr>
            <a:r>
              <a:rPr lang="en-US" sz="1425" kern="0" spc="30" dirty="0">
                <a:solidFill>
                  <a:srgbClr val="1E53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Gestão completa do ciclo de segurança, desde avaliações iniciais até a postura organizacional estratégica.</a:t>
            </a:r>
            <a:endParaRPr lang="en-US" sz="1425" dirty="0"/>
          </a:p>
        </p:txBody>
      </p:sp>
      <p:sp>
        <p:nvSpPr>
          <p:cNvPr id="5" name="Text 3"/>
          <p:cNvSpPr/>
          <p:nvPr/>
        </p:nvSpPr>
        <p:spPr>
          <a:xfrm>
            <a:off x="762000" y="2752427"/>
            <a:ext cx="2039112" cy="246888"/>
          </a:xfrm>
          <a:prstGeom prst="rect">
            <a:avLst/>
          </a:prstGeom>
          <a:noFill/>
          <a:ln/>
        </p:spPr>
        <p:txBody>
          <a:bodyPr vert="horz" wrap="none" lIns="0" tIns="0" rIns="238125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07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Ciclo de Avaliação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62000" y="3114377"/>
            <a:ext cx="1984248" cy="1143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1800"/>
              </a:lnSpc>
              <a:buNone/>
            </a:pPr>
            <a:r>
              <a:rPr lang="en-US" sz="1125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Criação de avaliações e análise de resultados para garantir a postura de segurança técnica e organizacional.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2990850" y="2752427"/>
            <a:ext cx="2039112" cy="246888"/>
          </a:xfrm>
          <a:prstGeom prst="rect">
            <a:avLst/>
          </a:prstGeom>
          <a:noFill/>
          <a:ln/>
        </p:spPr>
        <p:txBody>
          <a:bodyPr vert="horz" wrap="none" lIns="0" tIns="0" rIns="238125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07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Revisão Técnica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990850" y="3114377"/>
            <a:ext cx="1984248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1800"/>
              </a:lnSpc>
              <a:buNone/>
            </a:pPr>
            <a:r>
              <a:rPr lang="en-US" sz="1125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Solicitação e revisão rigorosa de evidências técnicas para validação de conformidade em todos os níveis.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5219700" y="2752427"/>
            <a:ext cx="2039112" cy="246888"/>
          </a:xfrm>
          <a:prstGeom prst="rect">
            <a:avLst/>
          </a:prstGeom>
          <a:noFill/>
          <a:ln/>
        </p:spPr>
        <p:txBody>
          <a:bodyPr vert="horz" wrap="none" lIns="0" tIns="0" rIns="238125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07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Relatórios 2026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219700" y="3114377"/>
            <a:ext cx="1984248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1800"/>
              </a:lnSpc>
              <a:buNone/>
            </a:pPr>
            <a:r>
              <a:rPr lang="en-US" sz="1125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Geração de relatórios detalhados para o cliente com consultoria estratégica atualizada até o ano de 2026.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762000" y="4477152"/>
            <a:ext cx="6400800" cy="1543050"/>
          </a:xfrm>
          <a:prstGeom prst="rect">
            <a:avLst/>
          </a:prstGeom>
          <a:solidFill>
            <a:srgbClr val="30736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047750" y="4762902"/>
            <a:ext cx="1993392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2F2F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Segurança Integrada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47750" y="5029602"/>
            <a:ext cx="1993392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2F2F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Visão Estratégica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238500" y="4762902"/>
            <a:ext cx="3675888" cy="9784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125" dirty="0">
                <a:solidFill>
                  <a:srgbClr val="F2F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Perfil Consultor no Code_Assessment permite a gestão completa do ciclo de segurança, assegurando que cada evidência técnica contribua para uma postura resiliente e relatórios precisos.</a:t>
            </a:r>
            <a:endParaRPr lang="en-US" sz="1125" dirty="0"/>
          </a:p>
        </p:txBody>
      </p:sp>
      <p:pic>
        <p:nvPicPr>
          <p:cNvPr id="15" name="Image 0" descr="image.png"/>
          <p:cNvPicPr>
            <a:picLocks noChangeAspect="1"/>
          </p:cNvPicPr>
          <p:nvPr/>
        </p:nvPicPr>
        <p:blipFill>
          <a:blip r:embed="rId3"/>
          <a:srcRect r="65156"/>
          <a:stretch/>
        </p:blipFill>
        <p:spPr>
          <a:xfrm>
            <a:off x="7924800" y="0"/>
            <a:ext cx="42672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095107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6096000" cy="6095107"/>
          </a:xfrm>
          <a:prstGeom prst="rect">
            <a:avLst/>
          </a:prstGeom>
          <a:solidFill>
            <a:srgbClr val="1E535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0" y="0"/>
            <a:ext cx="6096000" cy="62335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76250" y="1714500"/>
            <a:ext cx="5143500" cy="3429000"/>
          </a:xfrm>
          <a:prstGeom prst="roundRect">
            <a:avLst>
              <a:gd name="adj" fmla="val 1111"/>
            </a:avLst>
          </a:prstGeom>
          <a:solidFill>
            <a:srgbClr val="CCCCC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6250" y="762893"/>
            <a:ext cx="5143500" cy="438060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67500" y="762893"/>
            <a:ext cx="5047488" cy="8686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3420"/>
              </a:lnSpc>
              <a:buNone/>
            </a:pPr>
            <a:r>
              <a:rPr lang="en-US" sz="2850" b="1" dirty="0">
                <a:solidFill>
                  <a:srgbClr val="122A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Funcionalidades: Perfil Preposto</a:t>
            </a:r>
            <a:endParaRPr lang="en-US" sz="2850" dirty="0"/>
          </a:p>
        </p:txBody>
      </p:sp>
      <p:sp>
        <p:nvSpPr>
          <p:cNvPr id="8" name="Text 5"/>
          <p:cNvSpPr/>
          <p:nvPr/>
        </p:nvSpPr>
        <p:spPr>
          <a:xfrm>
            <a:off x="6667500" y="1724844"/>
            <a:ext cx="5102352" cy="31089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350" dirty="0">
                <a:solidFill>
                  <a:srgbClr val="1E53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Elo operacional da conformidade e execução diária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667500" y="2426791"/>
            <a:ext cx="5111496" cy="310896"/>
          </a:xfrm>
          <a:prstGeom prst="rect">
            <a:avLst/>
          </a:prstGeom>
          <a:noFill/>
          <a:ln/>
        </p:spPr>
        <p:txBody>
          <a:bodyPr vert="horz" wrap="none" lIns="0" tIns="0" rIns="381000" bIns="0" rtlCol="0" anchor="t">
            <a:normAutofit/>
          </a:bodyPr>
          <a:lstStyle/>
          <a:p>
            <a:pPr marL="0" indent="0" algn="l">
              <a:lnSpc>
                <a:spcPts val="2145"/>
              </a:lnSpc>
              <a:buNone/>
            </a:pPr>
            <a:r>
              <a:rPr lang="en-US" sz="1650" b="1" dirty="0">
                <a:solidFill>
                  <a:srgbClr val="122A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Gestão de Responsabilidades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6667500" y="2777282"/>
            <a:ext cx="4992624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1800"/>
              </a:lnSpc>
              <a:buNone/>
            </a:pPr>
            <a:r>
              <a:rPr lang="en-US" sz="1125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Visualização clara e centralizada de todos os controles de segurança e conformidade atribuídos especificamente ao seu escopo de atuação.</a:t>
            </a:r>
            <a:endParaRPr lang="en-US" sz="1125" dirty="0"/>
          </a:p>
        </p:txBody>
      </p:sp>
      <p:sp>
        <p:nvSpPr>
          <p:cNvPr id="11" name="Text 8"/>
          <p:cNvSpPr/>
          <p:nvPr/>
        </p:nvSpPr>
        <p:spPr>
          <a:xfrm>
            <a:off x="6667500" y="3565922"/>
            <a:ext cx="5111496" cy="310896"/>
          </a:xfrm>
          <a:prstGeom prst="rect">
            <a:avLst/>
          </a:prstGeom>
          <a:noFill/>
          <a:ln/>
        </p:spPr>
        <p:txBody>
          <a:bodyPr vert="horz" wrap="none" lIns="0" tIns="0" rIns="381000" bIns="0" rtlCol="0" anchor="t">
            <a:normAutofit/>
          </a:bodyPr>
          <a:lstStyle/>
          <a:p>
            <a:pPr marL="0" indent="0" algn="l">
              <a:lnSpc>
                <a:spcPts val="2145"/>
              </a:lnSpc>
              <a:buNone/>
            </a:pPr>
            <a:r>
              <a:rPr lang="en-US" sz="1650" b="1" dirty="0">
                <a:solidFill>
                  <a:srgbClr val="307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Execução e Evidência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6667500" y="3916412"/>
            <a:ext cx="4992624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1800"/>
              </a:lnSpc>
              <a:buNone/>
            </a:pPr>
            <a:r>
              <a:rPr lang="en-US" sz="1125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Resposta técnica de avaliações com upload seguro de documentos e políticas, garantindo a integridade das provas para processos de auditoria.</a:t>
            </a:r>
            <a:endParaRPr lang="en-US" sz="1125" dirty="0"/>
          </a:p>
        </p:txBody>
      </p:sp>
      <p:sp>
        <p:nvSpPr>
          <p:cNvPr id="13" name="Text 10"/>
          <p:cNvSpPr/>
          <p:nvPr/>
        </p:nvSpPr>
        <p:spPr>
          <a:xfrm>
            <a:off x="6667500" y="4933652"/>
            <a:ext cx="5111496" cy="310896"/>
          </a:xfrm>
          <a:prstGeom prst="rect">
            <a:avLst/>
          </a:prstGeom>
          <a:noFill/>
          <a:ln/>
        </p:spPr>
        <p:txBody>
          <a:bodyPr vert="horz" wrap="none" lIns="0" tIns="0" rIns="381000" bIns="0" rtlCol="0" anchor="t">
            <a:normAutofit/>
          </a:bodyPr>
          <a:lstStyle/>
          <a:p>
            <a:pPr marL="0" indent="0" algn="l">
              <a:lnSpc>
                <a:spcPts val="2145"/>
              </a:lnSpc>
              <a:buNone/>
            </a:pPr>
            <a:r>
              <a:rPr lang="en-US" sz="1650" b="1" dirty="0">
                <a:solidFill>
                  <a:srgbClr val="122A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Monitoramento em Tempo Real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6667500" y="5284143"/>
            <a:ext cx="4992624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1800"/>
              </a:lnSpc>
              <a:buNone/>
            </a:pPr>
            <a:r>
              <a:rPr lang="en-US" sz="1125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Acompanhamento constante de pendências e prazos críticos, permitindo uma gestão proativa dos indicadores de segurança da informação.</a:t>
            </a:r>
            <a:endParaRPr lang="en-US" sz="1125" dirty="0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95F2E91C-58DA-00A1-CA3B-C6416A5D1C45}"/>
              </a:ext>
            </a:extLst>
          </p:cNvPr>
          <p:cNvSpPr txBox="1"/>
          <p:nvPr/>
        </p:nvSpPr>
        <p:spPr>
          <a:xfrm>
            <a:off x="2118268" y="2555222"/>
            <a:ext cx="1859465" cy="34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350" dirty="0">
                <a:solidFill>
                  <a:srgbClr val="1E53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Imagem a definir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166624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-1143000" y="190500"/>
            <a:ext cx="6477000" cy="6477000"/>
          </a:xfrm>
          <a:prstGeom prst="roundRect">
            <a:avLst>
              <a:gd name="adj" fmla="val 141176"/>
            </a:avLst>
          </a:prstGeom>
          <a:noFill/>
          <a:ln w="9525">
            <a:solidFill>
              <a:srgbClr val="1E5359">
                <a:alpha val="3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-285750" y="1047750"/>
            <a:ext cx="4762500" cy="4762500"/>
          </a:xfrm>
          <a:prstGeom prst="roundRect">
            <a:avLst>
              <a:gd name="adj" fmla="val 192000"/>
            </a:avLst>
          </a:prstGeom>
          <a:noFill/>
          <a:ln w="9525">
            <a:solidFill>
              <a:srgbClr val="1E5359">
                <a:alpha val="3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76250" y="1809750"/>
            <a:ext cx="3238500" cy="3238500"/>
          </a:xfrm>
          <a:prstGeom prst="roundRect">
            <a:avLst>
              <a:gd name="adj" fmla="val 282353"/>
            </a:avLst>
          </a:prstGeom>
          <a:solidFill>
            <a:srgbClr val="1E535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31961" y="2800350"/>
            <a:ext cx="2587752" cy="32004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F2F2F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TI e Infraestrutura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32152" y="3228975"/>
            <a:ext cx="2560320" cy="2286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050" dirty="0">
                <a:solidFill>
                  <a:srgbClr val="F2F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Gestão de controles tecnológicos.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32152" y="3505200"/>
            <a:ext cx="2560320" cy="2286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050" dirty="0">
                <a:solidFill>
                  <a:srgbClr val="F2F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Mitigação ativa de risco digital.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32152" y="3781425"/>
            <a:ext cx="2560320" cy="2286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050" dirty="0">
                <a:solidFill>
                  <a:srgbClr val="F2F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Infraestrutura resiliente 2026.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715000" y="857250"/>
            <a:ext cx="5925312" cy="52120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22A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Diferencial: Distribuição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5715000" y="1400175"/>
            <a:ext cx="5879592" cy="2286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kern="0" spc="30" dirty="0">
                <a:solidFill>
                  <a:srgbClr val="1E53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Plataforma de Gestão de Segurança da Informação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715000" y="1886843"/>
            <a:ext cx="5760720" cy="10972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2160"/>
              </a:lnSpc>
              <a:buNone/>
            </a:pPr>
            <a:r>
              <a:rPr lang="en-US" sz="1200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Nossa plataforma promove uma avaliação colaborativa e estruturada, distribuindo responsabilidades entre departamentos chave. Isso garante que a governança de dados e a proteção de ativos sejam integradas organicamente aos processos de negócio, desde a TI até as áreas jurídicas e operacionais.</a:t>
            </a:r>
            <a:endParaRPr lang="en-US" sz="1200" dirty="0"/>
          </a:p>
        </p:txBody>
      </p:sp>
      <p:pic>
        <p:nvPicPr>
          <p:cNvPr id="13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00713" y="3459361"/>
            <a:ext cx="600075" cy="47625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524625" y="3364111"/>
            <a:ext cx="5065776" cy="320040"/>
          </a:xfrm>
          <a:prstGeom prst="rect">
            <a:avLst/>
          </a:prstGeom>
          <a:noFill/>
          <a:ln/>
        </p:spPr>
        <p:txBody>
          <a:bodyPr vert="horz" wrap="none" lIns="0" tIns="0" rIns="285750" bIns="0" rtlCol="0" anchor="t">
            <a:normAutofit/>
          </a:bodyPr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122A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RH e Jurídico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6524625" y="3745111"/>
            <a:ext cx="5047488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25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Foco total em pessoas e privacidade.</a:t>
            </a:r>
            <a:endParaRPr lang="en-US" sz="1125" dirty="0"/>
          </a:p>
        </p:txBody>
      </p:sp>
      <p:sp>
        <p:nvSpPr>
          <p:cNvPr id="16" name="Text 13"/>
          <p:cNvSpPr/>
          <p:nvPr/>
        </p:nvSpPr>
        <p:spPr>
          <a:xfrm>
            <a:off x="6524625" y="4021336"/>
            <a:ext cx="5047488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25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Garantia de conformidade legal rigorosa.</a:t>
            </a:r>
            <a:endParaRPr lang="en-US" sz="1125" dirty="0"/>
          </a:p>
        </p:txBody>
      </p:sp>
      <p:pic>
        <p:nvPicPr>
          <p:cNvPr id="17" name="Image 1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762625" y="4773811"/>
            <a:ext cx="476250" cy="47625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524625" y="4678561"/>
            <a:ext cx="5065776" cy="320040"/>
          </a:xfrm>
          <a:prstGeom prst="rect">
            <a:avLst/>
          </a:prstGeom>
          <a:noFill/>
          <a:ln/>
        </p:spPr>
        <p:txBody>
          <a:bodyPr vert="horz" wrap="none" lIns="0" tIns="0" rIns="285750" bIns="0" rtlCol="0" anchor="t">
            <a:normAutofit/>
          </a:bodyPr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122A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Segurança e Facilities</a:t>
            </a:r>
            <a:endParaRPr lang="en-US" sz="1650" dirty="0"/>
          </a:p>
        </p:txBody>
      </p:sp>
      <p:sp>
        <p:nvSpPr>
          <p:cNvPr id="19" name="Text 15"/>
          <p:cNvSpPr/>
          <p:nvPr/>
        </p:nvSpPr>
        <p:spPr>
          <a:xfrm>
            <a:off x="6524625" y="5059561"/>
            <a:ext cx="5047488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25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Monitoramento de controles físicos e ambientais.</a:t>
            </a:r>
            <a:endParaRPr lang="en-US" sz="1125" dirty="0"/>
          </a:p>
        </p:txBody>
      </p:sp>
      <p:sp>
        <p:nvSpPr>
          <p:cNvPr id="20" name="Text 16"/>
          <p:cNvSpPr/>
          <p:nvPr/>
        </p:nvSpPr>
        <p:spPr>
          <a:xfrm>
            <a:off x="6524625" y="5335786"/>
            <a:ext cx="5047488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25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Essencial para a governança corporativa até 2026.</a:t>
            </a:r>
            <a:endParaRPr lang="en-US" sz="11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096000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54272" y="571500"/>
            <a:ext cx="10991088" cy="6309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122A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Code_Assessment: Gestão de Segurança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54844" y="1238250"/>
            <a:ext cx="10936224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00" dirty="0">
                <a:solidFill>
                  <a:srgbClr val="1E53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Conformidade e Proteção de Dados Organizacionais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62000" y="2038350"/>
            <a:ext cx="5143500" cy="4057650"/>
          </a:xfrm>
          <a:prstGeom prst="rect">
            <a:avLst/>
          </a:prstGeom>
          <a:solidFill>
            <a:srgbClr val="122A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143000" y="2419350"/>
            <a:ext cx="4517136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307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BASE METODOLÓGICA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143000" y="2741265"/>
            <a:ext cx="4544568" cy="35661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F2F2F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Foco nos Requisitos do SGSI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143000" y="3444180"/>
            <a:ext cx="4434840" cy="17190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2700"/>
              </a:lnSpc>
              <a:buNone/>
            </a:pPr>
            <a:r>
              <a:rPr lang="en-US" sz="1500" dirty="0">
                <a:solidFill>
                  <a:srgbClr val="F2F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Fundamentamos nossa atuação nos requisitos da ISO/IEC 27001:2022 para estabelecer um Sistema de Gestão de Segurança da Informação robusto, garantindo que todos os processos sigam padrões rigorosos de controle.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286500" y="2038350"/>
            <a:ext cx="5143500" cy="4057650"/>
          </a:xfrm>
          <a:prstGeom prst="rect">
            <a:avLst/>
          </a:prstGeom>
          <a:solidFill>
            <a:srgbClr val="FFFFFF"/>
          </a:solidFill>
          <a:ln w="9525">
            <a:solidFill>
              <a:srgbClr val="30736C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677025" y="2428875"/>
            <a:ext cx="4498848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307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NORMAS INTERNACIONAIS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677025" y="2750790"/>
            <a:ext cx="4526280" cy="35661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122A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Conformidade e Excelência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677025" y="3453705"/>
            <a:ext cx="4416552" cy="17190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2700"/>
              </a:lnSpc>
              <a:buNone/>
            </a:pPr>
            <a:r>
              <a:rPr lang="en-US" sz="1500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Nossa estrutura assegura conformidade técnica e operacional através de normas internacionais de excelência, proporcionando a proteção contínua dos ativos críticos e mitigação eficaz de riscos de segurança.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099717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1013668"/>
            <a:ext cx="4389120" cy="105156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122A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Base Metodológica: ISO 27002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62000" y="2157561"/>
            <a:ext cx="4334256" cy="51206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1995"/>
              </a:lnSpc>
              <a:buNone/>
            </a:pPr>
            <a:r>
              <a:rPr lang="en-US" sz="1425" dirty="0">
                <a:solidFill>
                  <a:srgbClr val="1E53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Estrutura modernizada para enfrentar as ameaças cibernéticas contemporâneas com eficácia.</a:t>
            </a:r>
            <a:endParaRPr lang="en-US" sz="1425" dirty="0"/>
          </a:p>
        </p:txBody>
      </p:sp>
      <p:sp>
        <p:nvSpPr>
          <p:cNvPr id="5" name="Text 3"/>
          <p:cNvSpPr/>
          <p:nvPr/>
        </p:nvSpPr>
        <p:spPr>
          <a:xfrm>
            <a:off x="762000" y="3139529"/>
            <a:ext cx="4434840" cy="34747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07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Evolução Normativa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2000" y="3598515"/>
            <a:ext cx="4325112" cy="9784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1920"/>
              </a:lnSpc>
              <a:buNone/>
            </a:pPr>
            <a:r>
              <a:rPr lang="en-US" sz="1200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versão 2022 consolida 93 controles essenciais, substituindo seções antigas por uma abordagem dinâmica. Esta mudança foca na agilidade operacional e na governança de riscos digitais.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19750" y="1013668"/>
            <a:ext cx="2809875" cy="1582936"/>
          </a:xfrm>
          <a:prstGeom prst="roundRect">
            <a:avLst>
              <a:gd name="adj" fmla="val 3610"/>
            </a:avLst>
          </a:prstGeom>
          <a:solidFill>
            <a:srgbClr val="30736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329601" y="1351806"/>
            <a:ext cx="1435608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Organizacionais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810250" y="1628924"/>
            <a:ext cx="2468880" cy="3749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Políticas e diretrizes para a governança da segurança.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285976" y="2096542"/>
            <a:ext cx="1517904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Foco: Gestão de Riscos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20125" y="1013668"/>
            <a:ext cx="2809875" cy="1582936"/>
          </a:xfrm>
          <a:prstGeom prst="roundRect">
            <a:avLst>
              <a:gd name="adj" fmla="val 3610"/>
            </a:avLst>
          </a:prstGeom>
          <a:solidFill>
            <a:srgbClr val="FFFFFF"/>
          </a:solidFill>
          <a:ln w="9525">
            <a:solidFill>
              <a:srgbClr val="1E535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679734" y="1213693"/>
            <a:ext cx="740664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1E535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Pessoas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9155097" y="1489918"/>
            <a:ext cx="1783080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122A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Controles Humanos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820150" y="1767036"/>
            <a:ext cx="2450592" cy="3749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Treinamento e conscientização para redução de erros.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140619" y="2234654"/>
            <a:ext cx="1810512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1050" dirty="0">
                <a:solidFill>
                  <a:srgbClr val="1E53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Foco: Cultura de Segurança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619750" y="2787104"/>
            <a:ext cx="2809875" cy="1582936"/>
          </a:xfrm>
          <a:prstGeom prst="roundRect">
            <a:avLst>
              <a:gd name="adj" fmla="val 3610"/>
            </a:avLst>
          </a:prstGeom>
          <a:solidFill>
            <a:srgbClr val="FFFFFF"/>
          </a:solidFill>
          <a:ln w="9525">
            <a:solidFill>
              <a:srgbClr val="1E535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742509" y="2987129"/>
            <a:ext cx="612648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1E535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Físicos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213015" y="3263354"/>
            <a:ext cx="1673352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122A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Proteção de Ativos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819775" y="3540472"/>
            <a:ext cx="2450592" cy="3749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Segurança de perímetros, equipamentos e instalações.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339411" y="4008090"/>
            <a:ext cx="1408176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1050" dirty="0">
                <a:solidFill>
                  <a:srgbClr val="1E53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Foco: Acesso Restrito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620125" y="2787104"/>
            <a:ext cx="2809875" cy="1582936"/>
          </a:xfrm>
          <a:prstGeom prst="roundRect">
            <a:avLst>
              <a:gd name="adj" fmla="val 3610"/>
            </a:avLst>
          </a:prstGeom>
          <a:solidFill>
            <a:srgbClr val="30736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9475708" y="3125242"/>
            <a:ext cx="1143000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Tecnológicos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810625" y="3402360"/>
            <a:ext cx="2468880" cy="3749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Soluções técnicas para prevenção e detecção de ameaças.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286351" y="3869978"/>
            <a:ext cx="1517904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Foco: Resiliência Digital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619750" y="4655790"/>
            <a:ext cx="5989320" cy="34747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07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Objetivo da Conformidade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619750" y="5111948"/>
            <a:ext cx="5852160" cy="74066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1920"/>
              </a:lnSpc>
              <a:buNone/>
            </a:pPr>
            <a:r>
              <a:rPr lang="en-US" sz="1200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Garantir a proteção integral dos dados através de uma categorização clara, permitindo que a plataforma responda rapidamente a novos desafios de segurança no cenário global.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122020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image.png"/>
          <p:cNvPicPr>
            <a:picLocks noChangeAspect="1"/>
          </p:cNvPicPr>
          <p:nvPr/>
        </p:nvPicPr>
        <p:blipFill>
          <a:blip r:embed="rId3"/>
          <a:srcRect r="11104"/>
          <a:stretch/>
        </p:blipFill>
        <p:spPr>
          <a:xfrm>
            <a:off x="714375" y="1285875"/>
            <a:ext cx="5715000" cy="4286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4374" y="67362"/>
            <a:ext cx="8373869" cy="8686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3420"/>
              </a:lnSpc>
              <a:buNone/>
            </a:pPr>
            <a:r>
              <a:rPr lang="en-US" sz="2850" b="1" dirty="0">
                <a:solidFill>
                  <a:srgbClr val="122A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Como Funciona: Cadastro e Escopo</a:t>
            </a:r>
            <a:endParaRPr lang="en-US" sz="2850" dirty="0"/>
          </a:p>
        </p:txBody>
      </p:sp>
      <p:sp>
        <p:nvSpPr>
          <p:cNvPr id="6" name="Text 3"/>
          <p:cNvSpPr/>
          <p:nvPr/>
        </p:nvSpPr>
        <p:spPr>
          <a:xfrm>
            <a:off x="7191375" y="1009650"/>
            <a:ext cx="762000" cy="762000"/>
          </a:xfrm>
          <a:prstGeom prst="roundRect">
            <a:avLst>
              <a:gd name="adj" fmla="val 1200000"/>
            </a:avLst>
          </a:prstGeom>
          <a:solidFill>
            <a:srgbClr val="122A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" name="Image 1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400925" y="1238250"/>
            <a:ext cx="342900" cy="3048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39125" y="1009650"/>
            <a:ext cx="3364992" cy="320040"/>
          </a:xfrm>
          <a:prstGeom prst="rect">
            <a:avLst/>
          </a:prstGeom>
          <a:noFill/>
          <a:ln/>
        </p:spPr>
        <p:txBody>
          <a:bodyPr vert="horz" wrap="none" lIns="0" tIns="0" rIns="238125" bIns="0" rtlCol="0" anchor="t">
            <a:normAutofit/>
          </a:bodyPr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122A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Registro da Estrutura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8239125" y="1390650"/>
            <a:ext cx="3282696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1800"/>
              </a:lnSpc>
              <a:buNone/>
            </a:pPr>
            <a:r>
              <a:rPr lang="en-US" sz="1125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Code_Assessment inicia com o registro detalhado da estrutura da empresa, permitindo a definição precisa de áreas e responsáveis por cada domínio.</a:t>
            </a:r>
            <a:endParaRPr lang="en-US" sz="1125" dirty="0"/>
          </a:p>
        </p:txBody>
      </p:sp>
      <p:sp>
        <p:nvSpPr>
          <p:cNvPr id="10" name="Text 6"/>
          <p:cNvSpPr/>
          <p:nvPr/>
        </p:nvSpPr>
        <p:spPr>
          <a:xfrm>
            <a:off x="7191375" y="2781300"/>
            <a:ext cx="762000" cy="762000"/>
          </a:xfrm>
          <a:prstGeom prst="roundRect">
            <a:avLst>
              <a:gd name="adj" fmla="val 1200000"/>
            </a:avLst>
          </a:prstGeom>
          <a:solidFill>
            <a:srgbClr val="30736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1" name="Image 2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381875" y="3009900"/>
            <a:ext cx="381000" cy="3048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239125" y="2781300"/>
            <a:ext cx="3364992" cy="320040"/>
          </a:xfrm>
          <a:prstGeom prst="rect">
            <a:avLst/>
          </a:prstGeom>
          <a:noFill/>
          <a:ln/>
        </p:spPr>
        <p:txBody>
          <a:bodyPr vert="horz" wrap="none" lIns="0" tIns="0" rIns="238125" bIns="0" rtlCol="0" anchor="t">
            <a:normAutofit/>
          </a:bodyPr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307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Definição de Escopo</a:t>
            </a:r>
            <a:endParaRPr lang="en-US" sz="1650" dirty="0"/>
          </a:p>
        </p:txBody>
      </p:sp>
      <p:sp>
        <p:nvSpPr>
          <p:cNvPr id="13" name="Text 8"/>
          <p:cNvSpPr/>
          <p:nvPr/>
        </p:nvSpPr>
        <p:spPr>
          <a:xfrm>
            <a:off x="8239125" y="3162300"/>
            <a:ext cx="3282696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1800"/>
              </a:lnSpc>
              <a:buNone/>
            </a:pPr>
            <a:r>
              <a:rPr lang="en-US" sz="1125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Personalização do escopo de avaliação conforme a necessidade, garantindo conformidade total com os programas atualizados de privacidade e segurança.</a:t>
            </a:r>
            <a:endParaRPr lang="en-US" sz="1125" dirty="0"/>
          </a:p>
        </p:txBody>
      </p:sp>
      <p:sp>
        <p:nvSpPr>
          <p:cNvPr id="14" name="Text 9"/>
          <p:cNvSpPr/>
          <p:nvPr/>
        </p:nvSpPr>
        <p:spPr>
          <a:xfrm>
            <a:off x="7191375" y="4552950"/>
            <a:ext cx="762000" cy="762000"/>
          </a:xfrm>
          <a:prstGeom prst="roundRect">
            <a:avLst>
              <a:gd name="adj" fmla="val 1200000"/>
            </a:avLst>
          </a:prstGeom>
          <a:solidFill>
            <a:srgbClr val="122A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5" name="Image 3" descr="imag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439025" y="4781550"/>
            <a:ext cx="266700" cy="3048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239125" y="4552950"/>
            <a:ext cx="3364992" cy="320040"/>
          </a:xfrm>
          <a:prstGeom prst="rect">
            <a:avLst/>
          </a:prstGeom>
          <a:noFill/>
          <a:ln/>
        </p:spPr>
        <p:txBody>
          <a:bodyPr vert="horz" wrap="none" lIns="0" tIns="0" rIns="238125" bIns="0" rtlCol="0" anchor="t">
            <a:normAutofit/>
          </a:bodyPr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122A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Gestão Eficiente</a:t>
            </a:r>
            <a:endParaRPr lang="en-US" sz="1650" dirty="0"/>
          </a:p>
        </p:txBody>
      </p:sp>
      <p:sp>
        <p:nvSpPr>
          <p:cNvPr id="17" name="Text 11"/>
          <p:cNvSpPr/>
          <p:nvPr/>
        </p:nvSpPr>
        <p:spPr>
          <a:xfrm>
            <a:off x="8239125" y="4933950"/>
            <a:ext cx="3282696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1800"/>
              </a:lnSpc>
              <a:buNone/>
            </a:pPr>
            <a:r>
              <a:rPr lang="en-US" sz="1125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Através da estruturação correta de domínios e responsabilidades, a plataforma assegura que cada setor cumpra os requisitos técnicos e normativos vigentes.</a:t>
            </a:r>
            <a:endParaRPr lang="en-US" sz="112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02165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971699"/>
            <a:ext cx="4288536" cy="13075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3420"/>
              </a:lnSpc>
              <a:buNone/>
            </a:pPr>
            <a:r>
              <a:rPr lang="en-US" sz="2850" b="1" dirty="0">
                <a:solidFill>
                  <a:srgbClr val="122A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Como Funciona: Distribuição e Avaliação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762000" y="2370832"/>
            <a:ext cx="4325112" cy="2286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dirty="0">
                <a:solidFill>
                  <a:srgbClr val="1E53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Gestão Inteligente de Controles de Segurança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62000" y="3047107"/>
            <a:ext cx="4334256" cy="32004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122A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Distribuição Eficiente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62000" y="3476625"/>
            <a:ext cx="4233672" cy="49377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1920"/>
              </a:lnSpc>
              <a:buNone/>
            </a:pPr>
            <a:r>
              <a:rPr lang="en-US" sz="1200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Automação de 93 controles entre TI, RH e Jurídico, acelerando o preenchimento e a coleta de dados críticos.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62000" y="4344293"/>
            <a:ext cx="4334256" cy="32004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122A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Critérios de Mensuração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762000" y="4771876"/>
            <a:ext cx="4233672" cy="74066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1920"/>
              </a:lnSpc>
              <a:buNone/>
            </a:pPr>
            <a:r>
              <a:rPr lang="en-US" sz="1200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Avaliação técnica precisa do diagnóstico de maturidade organizacional através de métricas padronizadas e claras.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24500" y="1428750"/>
            <a:ext cx="1905000" cy="1905000"/>
          </a:xfrm>
          <a:prstGeom prst="rect">
            <a:avLst/>
          </a:prstGeom>
          <a:solidFill>
            <a:srgbClr val="122A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715000" y="2152650"/>
            <a:ext cx="1572768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2F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93 Controles Automatizados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620000" y="1428750"/>
            <a:ext cx="1905000" cy="1905000"/>
          </a:xfrm>
          <a:prstGeom prst="rect">
            <a:avLst/>
          </a:prstGeom>
          <a:solidFill>
            <a:srgbClr val="92D050"/>
          </a:solidFill>
          <a:ln w="9525">
            <a:solidFill>
              <a:srgbClr val="1E535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795260" y="2279756"/>
            <a:ext cx="155448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073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Implementado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715500" y="1428750"/>
            <a:ext cx="1905000" cy="1905000"/>
          </a:xfrm>
          <a:prstGeom prst="rect">
            <a:avLst/>
          </a:prstGeom>
          <a:solidFill>
            <a:srgbClr val="30736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906000" y="2152650"/>
            <a:ext cx="1572768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2F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Agilidade na Coleta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524500" y="3524250"/>
            <a:ext cx="1905000" cy="1905000"/>
          </a:xfrm>
          <a:prstGeom prst="rect">
            <a:avLst/>
          </a:prstGeom>
          <a:solidFill>
            <a:srgbClr val="FFC000"/>
          </a:solidFill>
          <a:ln w="9525">
            <a:solidFill>
              <a:srgbClr val="1E535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724525" y="4248150"/>
            <a:ext cx="155448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1800"/>
              </a:lnSpc>
            </a:pPr>
            <a:r>
              <a:rPr lang="en-US" sz="1500" b="1" dirty="0">
                <a:solidFill>
                  <a:srgbClr val="3073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Parcialmente Implementado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620000" y="3524250"/>
            <a:ext cx="1905000" cy="1905000"/>
          </a:xfrm>
          <a:prstGeom prst="rect">
            <a:avLst/>
          </a:prstGeom>
          <a:solidFill>
            <a:srgbClr val="122A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814215" y="4362450"/>
            <a:ext cx="1572768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2F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Visão por Áreas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715500" y="3524250"/>
            <a:ext cx="1905000" cy="1905000"/>
          </a:xfrm>
          <a:prstGeom prst="rect">
            <a:avLst/>
          </a:prstGeom>
          <a:solidFill>
            <a:srgbClr val="C00000"/>
          </a:solidFill>
          <a:ln w="9525">
            <a:solidFill>
              <a:srgbClr val="1E535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9915525" y="4248150"/>
            <a:ext cx="155448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1800"/>
              </a:lnSpc>
            </a:pPr>
            <a:r>
              <a:rPr lang="en-US" sz="1500" b="1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Não Implementado</a:t>
            </a:r>
            <a:endParaRPr lang="en-US" sz="15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987796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14375" y="1047750"/>
            <a:ext cx="5715000" cy="4762500"/>
          </a:xfrm>
          <a:prstGeom prst="rect">
            <a:avLst/>
          </a:prstGeom>
          <a:solidFill>
            <a:srgbClr val="1E535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" name="Image 0" descr="image.png"/>
          <p:cNvPicPr>
            <a:picLocks noChangeAspect="1"/>
          </p:cNvPicPr>
          <p:nvPr/>
        </p:nvPicPr>
        <p:blipFill>
          <a:blip r:embed="rId3"/>
          <a:srcRect r="32420"/>
          <a:stretch/>
        </p:blipFill>
        <p:spPr>
          <a:xfrm>
            <a:off x="714375" y="1047750"/>
            <a:ext cx="5715000" cy="4762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4375" y="224790"/>
            <a:ext cx="8017030" cy="82296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22A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Como Funciona: Evidências e Análise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7136920" y="870204"/>
            <a:ext cx="4617720" cy="4023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dirty="0">
                <a:solidFill>
                  <a:srgbClr val="1E53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Gestão simplificada de conformidade e segurança da informação.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191375" y="2028825"/>
            <a:ext cx="762000" cy="762000"/>
          </a:xfrm>
          <a:prstGeom prst="roundRect">
            <a:avLst>
              <a:gd name="adj" fmla="val 1200000"/>
            </a:avLst>
          </a:prstGeom>
          <a:solidFill>
            <a:srgbClr val="30736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9" name="Image 1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400925" y="2238375"/>
            <a:ext cx="342900" cy="3429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39125" y="2028825"/>
            <a:ext cx="3291840" cy="576072"/>
          </a:xfrm>
          <a:prstGeom prst="rect">
            <a:avLst/>
          </a:prstGeom>
          <a:noFill/>
          <a:ln/>
        </p:spPr>
        <p:txBody>
          <a:bodyPr vert="horz" wrap="square" lIns="0" tIns="0" rIns="238125" bIns="0" rtlCol="0" anchor="t"/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122A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Upload de Evidências Diversas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8239125" y="2695575"/>
            <a:ext cx="3282696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1800"/>
              </a:lnSpc>
              <a:buNone/>
            </a:pPr>
            <a:r>
              <a:rPr lang="en-US" sz="1125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Centralize a gestão através do upload direto de políticas, logs, contratos e registros essenciais para auditoria.</a:t>
            </a:r>
            <a:endParaRPr lang="en-US" sz="1125" dirty="0"/>
          </a:p>
        </p:txBody>
      </p:sp>
      <p:sp>
        <p:nvSpPr>
          <p:cNvPr id="12" name="Text 8"/>
          <p:cNvSpPr/>
          <p:nvPr/>
        </p:nvSpPr>
        <p:spPr>
          <a:xfrm>
            <a:off x="7191375" y="3762375"/>
            <a:ext cx="762000" cy="762000"/>
          </a:xfrm>
          <a:prstGeom prst="roundRect">
            <a:avLst>
              <a:gd name="adj" fmla="val 1200000"/>
            </a:avLst>
          </a:prstGeom>
          <a:solidFill>
            <a:srgbClr val="30736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3" name="Image 2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400925" y="3971925"/>
            <a:ext cx="342900" cy="3429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39125" y="3762375"/>
            <a:ext cx="3364992" cy="320040"/>
          </a:xfrm>
          <a:prstGeom prst="rect">
            <a:avLst/>
          </a:prstGeom>
          <a:noFill/>
          <a:ln/>
        </p:spPr>
        <p:txBody>
          <a:bodyPr vert="horz" wrap="none" lIns="0" tIns="0" rIns="238125" bIns="0" rtlCol="0" anchor="t">
            <a:normAutofit/>
          </a:bodyPr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122A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Maturidade e Conformidade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8239125" y="4143375"/>
            <a:ext cx="3282696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1800"/>
              </a:lnSpc>
              <a:buNone/>
            </a:pPr>
            <a:r>
              <a:rPr lang="en-US" sz="1125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Consolidação imediata de indicadores de maturidade com visualização clara do status de conformidade organizacional.</a:t>
            </a:r>
            <a:endParaRPr lang="en-US" sz="112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133171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947737"/>
            <a:ext cx="4379976" cy="8686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3420"/>
              </a:lnSpc>
              <a:buNone/>
            </a:pPr>
            <a:r>
              <a:rPr lang="en-US" sz="2850" b="1" dirty="0">
                <a:solidFill>
                  <a:srgbClr val="122A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Code_Assessment: Mais que um Checklist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762000" y="1910655"/>
            <a:ext cx="4334256" cy="4023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dirty="0">
                <a:solidFill>
                  <a:srgbClr val="1E53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Checklist é estático; Code_Assessment é dinâmico e contínuo para governança ativa.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62000" y="2786955"/>
            <a:ext cx="4425696" cy="32004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1E535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Governança Operacional Real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62000" y="3217366"/>
            <a:ext cx="4325112" cy="5212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2040"/>
              </a:lnSpc>
              <a:buNone/>
            </a:pPr>
            <a:r>
              <a:rPr lang="en-US" sz="1200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Abordagem dinâmica que substitui modelos estáticos por processos automatizados e recorrentes.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62000" y="4114502"/>
            <a:ext cx="4425696" cy="32004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1E535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Ciclo Completo de Gestão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762000" y="4544913"/>
            <a:ext cx="4325112" cy="5212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2040"/>
              </a:lnSpc>
              <a:buNone/>
            </a:pPr>
            <a:r>
              <a:rPr lang="en-US" sz="1200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Gerenciamento do fluxo: Controle, Evidência, identificação de Gaps e Planos de Ação estruturados.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15000" y="946845"/>
            <a:ext cx="5715000" cy="3810000"/>
          </a:xfrm>
          <a:prstGeom prst="roundRect">
            <a:avLst>
              <a:gd name="adj" fmla="val 2000"/>
            </a:avLst>
          </a:prstGeom>
          <a:solidFill>
            <a:srgbClr val="CCCCC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0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15000" y="946845"/>
            <a:ext cx="5715000" cy="3810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715000" y="5042595"/>
            <a:ext cx="1777901" cy="868561"/>
          </a:xfrm>
          <a:prstGeom prst="roundRect">
            <a:avLst>
              <a:gd name="adj" fmla="val 6580"/>
            </a:avLst>
          </a:prstGeom>
          <a:solidFill>
            <a:srgbClr val="30736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5933248" y="5243513"/>
            <a:ext cx="1380744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Conformidade Ativa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107984" y="5463480"/>
            <a:ext cx="1042416" cy="28346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Ciclo 360°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683401" y="5042595"/>
            <a:ext cx="1778050" cy="868561"/>
          </a:xfrm>
          <a:prstGeom prst="roundRect">
            <a:avLst>
              <a:gd name="adj" fmla="val 6580"/>
            </a:avLst>
          </a:prstGeom>
          <a:solidFill>
            <a:srgbClr val="FFFFFF"/>
          </a:solidFill>
          <a:ln w="9525">
            <a:solidFill>
              <a:srgbClr val="30736C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8212544" y="5243513"/>
            <a:ext cx="758952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1050" b="1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Segurança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018091" y="5463480"/>
            <a:ext cx="1161288" cy="28346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Estruturada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9651950" y="5042595"/>
            <a:ext cx="1778050" cy="868561"/>
          </a:xfrm>
          <a:prstGeom prst="roundRect">
            <a:avLst>
              <a:gd name="adj" fmla="val 6580"/>
            </a:avLst>
          </a:prstGeom>
          <a:solidFill>
            <a:srgbClr val="30736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10132516" y="5243513"/>
            <a:ext cx="850392" cy="2011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Governança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10103227" y="5463480"/>
            <a:ext cx="923544" cy="28346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Até 2026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088566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2192000" cy="2667000"/>
          </a:xfrm>
          <a:prstGeom prst="rect">
            <a:avLst/>
          </a:prstGeom>
          <a:solidFill>
            <a:srgbClr val="122A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62000" y="514350"/>
            <a:ext cx="10771632" cy="96926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780"/>
              </a:lnSpc>
              <a:buNone/>
            </a:pPr>
            <a:r>
              <a:rPr lang="en-US" sz="3150" b="1" dirty="0">
                <a:solidFill>
                  <a:srgbClr val="F2F2F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Code_Assessment: Plataforma de Gestão de Segurança da Informação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1809750" y="1618208"/>
            <a:ext cx="8622792" cy="53949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F2F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Code_Assessment transforma a atuação de consultorias, permitindo a padronização de metodologias para múltiplos clientes em uma interface única e segura.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62000" y="3143250"/>
            <a:ext cx="609600" cy="723900"/>
          </a:xfrm>
          <a:prstGeom prst="roundRect">
            <a:avLst>
              <a:gd name="adj" fmla="val 12500"/>
            </a:avLst>
          </a:prstGeom>
          <a:solidFill>
            <a:srgbClr val="30736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3238500"/>
            <a:ext cx="374904" cy="59436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4200" b="1" dirty="0">
                <a:solidFill>
                  <a:srgbClr val="F2F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1560463" y="3190875"/>
            <a:ext cx="2368296" cy="50292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E535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Padronização de Metodologias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60363" y="4055566"/>
            <a:ext cx="3346704" cy="147218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1920"/>
              </a:lnSpc>
              <a:buNone/>
            </a:pPr>
            <a:r>
              <a:rPr lang="en-US" sz="1200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Implemente processos uniformes para diversos clientes simultaneamente. A plataforma permite gerenciar diferentes frameworks em uma interface centralizada, elevando o nível de governança e entrega técnica.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444901" y="3143250"/>
            <a:ext cx="714375" cy="723900"/>
          </a:xfrm>
          <a:prstGeom prst="roundRect">
            <a:avLst>
              <a:gd name="adj" fmla="val 10667"/>
            </a:avLst>
          </a:prstGeom>
          <a:solidFill>
            <a:srgbClr val="30736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635401" y="3238500"/>
            <a:ext cx="484632" cy="59436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4200" b="1" dirty="0">
                <a:solidFill>
                  <a:srgbClr val="F2F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5348213" y="3190875"/>
            <a:ext cx="2258568" cy="50292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E535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Eliminação de Planilhas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443338" y="4055566"/>
            <a:ext cx="3346704" cy="147218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1920"/>
              </a:lnSpc>
              <a:buNone/>
            </a:pPr>
            <a:r>
              <a:rPr lang="en-US" sz="1200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Promova a redução drástica do uso de planilhas manuais e controles descentralizados. Automatize a coleta de dados e geração de relatórios, mitigando erros humanos e aumentando a eficiência operacional.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27950" y="3143250"/>
            <a:ext cx="723900" cy="723900"/>
          </a:xfrm>
          <a:prstGeom prst="roundRect">
            <a:avLst>
              <a:gd name="adj" fmla="val 10526"/>
            </a:avLst>
          </a:prstGeom>
          <a:solidFill>
            <a:srgbClr val="30736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318450" y="3238500"/>
            <a:ext cx="493776" cy="59436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4200" b="1" dirty="0">
                <a:solidFill>
                  <a:srgbClr val="F2F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9040713" y="3190875"/>
            <a:ext cx="2295144" cy="28346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E535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Histórico Centralizado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126313" y="4057501"/>
            <a:ext cx="3346704" cy="122529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1920"/>
              </a:lnSpc>
              <a:buNone/>
            </a:pPr>
            <a:r>
              <a:rPr lang="en-US" sz="1200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Garanta um registro completo e centralizado de todas as auditorias e consultorias realizadas. Otimize a rastreabilidade das informações e assegure a continuidade do conhecimento histórico dos projetos.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155473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570533"/>
            <a:ext cx="10991088" cy="55778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122A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Code_Assessment: Plataforma de Gestão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762000" y="1217265"/>
            <a:ext cx="10936224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E53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Soluções estruturadas para a governança e segurança da informação em médias empresas.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 flipV="1">
            <a:off x="762000" y="2022886"/>
            <a:ext cx="7715250" cy="20978"/>
          </a:xfrm>
          <a:prstGeom prst="line">
            <a:avLst/>
          </a:prstGeom>
          <a:noFill/>
          <a:ln w="19050">
            <a:solidFill>
              <a:srgbClr val="30736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62000" y="1605752"/>
            <a:ext cx="8372046" cy="79552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3120"/>
              </a:lnSpc>
              <a:buNone/>
            </a:pPr>
            <a:r>
              <a:rPr lang="en-US" sz="2400" b="1" dirty="0">
                <a:solidFill>
                  <a:srgbClr val="1E535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Público-Alvo: </a:t>
            </a:r>
            <a:r>
              <a:rPr lang="en-US" sz="2400" b="1" dirty="0" err="1">
                <a:solidFill>
                  <a:srgbClr val="1E535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Médias</a:t>
            </a:r>
            <a:r>
              <a:rPr lang="en-US" sz="2400" b="1" dirty="0">
                <a:solidFill>
                  <a:srgbClr val="1E535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Empresas/ Startups e Fintechs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62000" y="2337897"/>
            <a:ext cx="4617720" cy="117043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2295"/>
              </a:lnSpc>
              <a:buNone/>
            </a:pPr>
            <a:r>
              <a:rPr lang="en-US" sz="1350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Code_Assessment é a ferramenta ideal para a implementação da norma ISO 27001, garantindo conformidade e proteção robusta de dados corporativos.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62000" y="3758097"/>
            <a:ext cx="4617720" cy="87782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2295"/>
              </a:lnSpc>
              <a:buNone/>
            </a:pPr>
            <a:r>
              <a:rPr lang="en-US" sz="1350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Nossa plataforma otimiza a preparação para auditorias rigorosas de clientes e parceiros estratégicos, elevando o nível de confiança comercial.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62000" y="4822813"/>
            <a:ext cx="4617720" cy="87782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2295"/>
              </a:lnSpc>
              <a:buNone/>
            </a:pPr>
            <a:r>
              <a:rPr lang="en-US" sz="1350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Oferecemos uma estruturação de processos de GRC de forma acessível e eficiente, adaptada à realidade e aos recursos das médias empresas.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810250" y="2172295"/>
            <a:ext cx="2667000" cy="1905000"/>
          </a:xfrm>
          <a:prstGeom prst="roundRect">
            <a:avLst>
              <a:gd name="adj" fmla="val 3000"/>
            </a:avLst>
          </a:prstGeom>
          <a:solidFill>
            <a:srgbClr val="30736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409754" y="2804815"/>
            <a:ext cx="1517904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00" dirty="0">
                <a:solidFill>
                  <a:srgbClr val="F2F2F2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Foco Normativo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26197" y="3148608"/>
            <a:ext cx="1298448" cy="32918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2340"/>
              </a:lnSpc>
              <a:buNone/>
            </a:pPr>
            <a:r>
              <a:rPr lang="en-US" sz="1950" b="1" dirty="0">
                <a:solidFill>
                  <a:srgbClr val="F2F2F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ISO 27001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8763000" y="2172295"/>
            <a:ext cx="2667000" cy="1905000"/>
          </a:xfrm>
          <a:prstGeom prst="roundRect">
            <a:avLst>
              <a:gd name="adj" fmla="val 3000"/>
            </a:avLst>
          </a:prstGeom>
          <a:solidFill>
            <a:srgbClr val="30736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624822" y="2804815"/>
            <a:ext cx="996696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00" dirty="0">
                <a:solidFill>
                  <a:srgbClr val="F2F2F2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Auditorias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34046" y="3148608"/>
            <a:ext cx="1993392" cy="32918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2340"/>
              </a:lnSpc>
              <a:buNone/>
            </a:pPr>
            <a:r>
              <a:rPr lang="en-US" sz="1950" b="1" dirty="0">
                <a:solidFill>
                  <a:srgbClr val="F2F2F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Prontidão Total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5810250" y="4363045"/>
            <a:ext cx="2667000" cy="1905000"/>
          </a:xfrm>
          <a:prstGeom prst="roundRect">
            <a:avLst>
              <a:gd name="adj" fmla="val 3000"/>
            </a:avLst>
          </a:prstGeom>
          <a:solidFill>
            <a:srgbClr val="30736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812947" y="4995565"/>
            <a:ext cx="713232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00" dirty="0">
                <a:solidFill>
                  <a:srgbClr val="F2F2F2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Gestão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97882" y="5339358"/>
            <a:ext cx="1755648" cy="32918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2340"/>
              </a:lnSpc>
              <a:buNone/>
            </a:pPr>
            <a:r>
              <a:rPr lang="en-US" sz="1950" b="1" dirty="0">
                <a:solidFill>
                  <a:srgbClr val="F2F2F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GRC Eficiente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8763000" y="4363045"/>
            <a:ext cx="2667000" cy="1905000"/>
          </a:xfrm>
          <a:prstGeom prst="roundRect">
            <a:avLst>
              <a:gd name="adj" fmla="val 3000"/>
            </a:avLst>
          </a:prstGeom>
          <a:solidFill>
            <a:srgbClr val="30736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9751124" y="4995565"/>
            <a:ext cx="740664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00" dirty="0">
                <a:solidFill>
                  <a:srgbClr val="F2F2F2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Acesso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109758" y="5339358"/>
            <a:ext cx="2039112" cy="32918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2340"/>
              </a:lnSpc>
              <a:buNone/>
            </a:pPr>
            <a:r>
              <a:rPr lang="en-US" sz="1950" b="1" dirty="0">
                <a:solidFill>
                  <a:srgbClr val="F2F2F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Custo-Benefício</a:t>
            </a:r>
            <a:endParaRPr lang="en-US" sz="1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"/>
            <a:ext cx="12192000" cy="619229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665708"/>
            <a:ext cx="6501384" cy="96926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3780"/>
              </a:lnSpc>
              <a:buNone/>
            </a:pPr>
            <a:r>
              <a:rPr lang="en-US" sz="3150" b="1" dirty="0">
                <a:solidFill>
                  <a:srgbClr val="122A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Público-Alvo: Empresas Reguladas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762000" y="1770459"/>
            <a:ext cx="6446520" cy="51206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95"/>
              </a:lnSpc>
              <a:buNone/>
            </a:pPr>
            <a:r>
              <a:rPr lang="en-US" sz="1425" dirty="0">
                <a:solidFill>
                  <a:srgbClr val="1E53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Atendimento rigoroso às normas do Banco Central e CVM para garantir a conformidade no sistema financeiro.</a:t>
            </a:r>
            <a:endParaRPr lang="en-US" sz="1425" dirty="0"/>
          </a:p>
        </p:txBody>
      </p:sp>
      <p:sp>
        <p:nvSpPr>
          <p:cNvPr id="5" name="Text 3"/>
          <p:cNvSpPr/>
          <p:nvPr/>
        </p:nvSpPr>
        <p:spPr>
          <a:xfrm>
            <a:off x="762000" y="2484802"/>
            <a:ext cx="2039112" cy="29260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07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Setor Bancário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62000" y="2884852"/>
            <a:ext cx="1984248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1800"/>
              </a:lnSpc>
              <a:buNone/>
            </a:pPr>
            <a:r>
              <a:rPr lang="en-US" sz="1125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Instituições que operam sob alta regulação e exigem protocolos de segurança digital de última geração.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2990850" y="2484802"/>
            <a:ext cx="2039112" cy="29260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07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Fintechs e IPs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990850" y="2884852"/>
            <a:ext cx="1984248" cy="1143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1800"/>
              </a:lnSpc>
              <a:buNone/>
            </a:pPr>
            <a:r>
              <a:rPr lang="en-US" sz="1125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Foco em Instituições de Pagamento e empresas de tecnologia que demandam agilidade com segurança robusta.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5219700" y="2484802"/>
            <a:ext cx="2039112" cy="29260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07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Gestão de Riscos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219700" y="2884852"/>
            <a:ext cx="1984248" cy="1143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1800"/>
              </a:lnSpc>
              <a:buNone/>
            </a:pPr>
            <a:r>
              <a:rPr lang="en-US" sz="1125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Controle total sobre prestadores de serviços críticos, antecipando os requisitos regulatórios.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762000" y="4314534"/>
            <a:ext cx="6400800" cy="1785938"/>
          </a:xfrm>
          <a:prstGeom prst="rect">
            <a:avLst/>
          </a:prstGeom>
          <a:solidFill>
            <a:srgbClr val="30736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047750" y="4600284"/>
            <a:ext cx="1956816" cy="53949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2F2F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Conformidade Ativa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47750" y="5133684"/>
            <a:ext cx="1993392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2F2F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Segurança Digital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238500" y="4597903"/>
            <a:ext cx="3675888" cy="122529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125" dirty="0">
                <a:solidFill>
                  <a:srgbClr val="F2F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Nossa plataforma garante a gestão de segurança da informação e o controle rigoroso de prestadores críticos, assegurando que sua operação esteja sempre alinhada às exigências regulatórias mais atuais.</a:t>
            </a:r>
            <a:endParaRPr lang="en-US" sz="1125" dirty="0"/>
          </a:p>
        </p:txBody>
      </p:sp>
      <p:pic>
        <p:nvPicPr>
          <p:cNvPr id="15" name="Image 0" descr="image.png"/>
          <p:cNvPicPr>
            <a:picLocks noChangeAspect="1"/>
          </p:cNvPicPr>
          <p:nvPr/>
        </p:nvPicPr>
        <p:blipFill>
          <a:blip r:embed="rId3"/>
          <a:srcRect r="65128"/>
          <a:stretch/>
        </p:blipFill>
        <p:spPr>
          <a:xfrm>
            <a:off x="7924800" y="0"/>
            <a:ext cx="4267200" cy="6192293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166624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6096000" cy="6166624"/>
          </a:xfrm>
          <a:prstGeom prst="rect">
            <a:avLst/>
          </a:prstGeom>
          <a:solidFill>
            <a:srgbClr val="1E535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0" y="0"/>
            <a:ext cx="6096000" cy="6166624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76250" y="1714500"/>
            <a:ext cx="5143500" cy="3429000"/>
          </a:xfrm>
          <a:prstGeom prst="rect">
            <a:avLst/>
          </a:prstGeom>
          <a:solidFill>
            <a:srgbClr val="CCCCC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Image 0" descr="image.png"/>
          <p:cNvPicPr>
            <a:picLocks noChangeAspect="1"/>
          </p:cNvPicPr>
          <p:nvPr/>
        </p:nvPicPr>
        <p:blipFill>
          <a:blip r:embed="rId3"/>
          <a:srcRect b="95"/>
          <a:stretch/>
        </p:blipFill>
        <p:spPr>
          <a:xfrm>
            <a:off x="476250" y="1714500"/>
            <a:ext cx="5143500" cy="3429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72250" y="952500"/>
            <a:ext cx="5239512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122A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 Cenário do Mercado Atual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6572250" y="1962150"/>
            <a:ext cx="5303520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500" dirty="0">
                <a:solidFill>
                  <a:srgbClr val="1E53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Evolução Estratégica da Segurança Digital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572250" y="2782193"/>
            <a:ext cx="5312664" cy="329184"/>
          </a:xfrm>
          <a:prstGeom prst="rect">
            <a:avLst/>
          </a:prstGeom>
          <a:noFill/>
          <a:ln/>
        </p:spPr>
        <p:txBody>
          <a:bodyPr vert="horz" wrap="none" lIns="0" tIns="0" rIns="28575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122A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Transição para Riscos Corporativos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572250" y="3175471"/>
            <a:ext cx="5184648" cy="82296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2160"/>
              </a:lnSpc>
              <a:buNone/>
            </a:pPr>
            <a:r>
              <a:rPr lang="en-US" sz="1200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segurança evoluiu de disciplina técnica para pilar central da governança. O Brasil vive uma expansão acelerada de conformidade regulatória e gestão estratégica.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572250" y="4378375"/>
            <a:ext cx="5312664" cy="329184"/>
          </a:xfrm>
          <a:prstGeom prst="rect">
            <a:avLst/>
          </a:prstGeom>
          <a:noFill/>
          <a:ln/>
        </p:spPr>
        <p:txBody>
          <a:bodyPr vert="horz" wrap="none" lIns="0" tIns="0" rIns="28575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307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Governança de IA para 2026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572250" y="4771653"/>
            <a:ext cx="5184648" cy="82296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2160"/>
              </a:lnSpc>
              <a:buNone/>
            </a:pPr>
            <a:r>
              <a:rPr lang="en-US" sz="1200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Preparação para um futuro onde a governança de Inteligência Artificial e a cibersegurança são imperativos estratégicos mandatórios para a sobrevivência do negócio.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099717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-1143000" y="190500"/>
            <a:ext cx="6477000" cy="6477000"/>
          </a:xfrm>
          <a:prstGeom prst="roundRect">
            <a:avLst>
              <a:gd name="adj" fmla="val 141176"/>
            </a:avLst>
          </a:prstGeom>
          <a:noFill/>
          <a:ln w="9525">
            <a:solidFill>
              <a:srgbClr val="1E5359">
                <a:alpha val="3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-285750" y="1047750"/>
            <a:ext cx="4762500" cy="4762500"/>
          </a:xfrm>
          <a:prstGeom prst="roundRect">
            <a:avLst>
              <a:gd name="adj" fmla="val 192000"/>
            </a:avLst>
          </a:prstGeom>
          <a:noFill/>
          <a:ln w="9525">
            <a:solidFill>
              <a:srgbClr val="1E5359">
                <a:alpha val="5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76250" y="1809750"/>
            <a:ext cx="3238500" cy="3238500"/>
          </a:xfrm>
          <a:prstGeom prst="roundRect">
            <a:avLst>
              <a:gd name="adj" fmla="val 282353"/>
            </a:avLst>
          </a:prstGeom>
          <a:solidFill>
            <a:srgbClr val="1E535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31914" y="2786063"/>
            <a:ext cx="2587752" cy="34747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2F2F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Principais Rivais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2128" y="3243263"/>
            <a:ext cx="2569464" cy="2286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125" dirty="0">
                <a:solidFill>
                  <a:srgbClr val="F2F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OneTrust: Líder global robusto.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832128" y="3519488"/>
            <a:ext cx="2569464" cy="2286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125" dirty="0">
                <a:solidFill>
                  <a:srgbClr val="F2F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ServiceNow: Integração total IT.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832128" y="3795713"/>
            <a:ext cx="2569464" cy="2286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125" dirty="0">
                <a:solidFill>
                  <a:srgbClr val="F2F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RSA Archer: Gestão empresarial.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5715000" y="857250"/>
            <a:ext cx="5934456" cy="58521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122A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Concorrência: GRC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715000" y="1457325"/>
            <a:ext cx="5879592" cy="2286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kern="0" spc="30" dirty="0">
                <a:solidFill>
                  <a:srgbClr val="3073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Análise de Mercado e Posicionamento Estratégico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715000" y="1943026"/>
            <a:ext cx="5760720" cy="1371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2160"/>
              </a:lnSpc>
              <a:buNone/>
            </a:pPr>
            <a:r>
              <a:rPr lang="en-US" sz="1200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Gigantes como OneTrust, ServiceNow e RSA Archer dominam o setor com soluções extremamente robustas. No entanto, essas plataformas frequentemente apresentam barreiras significativas, como custos de licenciamento elevados e processos de implantação longos e complexos que exigem consultorias especializadas.</a:t>
            </a:r>
            <a:endParaRPr lang="en-US" sz="1200" dirty="0"/>
          </a:p>
        </p:txBody>
      </p:sp>
      <p:pic>
        <p:nvPicPr>
          <p:cNvPr id="13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62625" y="3971776"/>
            <a:ext cx="476250" cy="47625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524625" y="3790801"/>
            <a:ext cx="4297680" cy="32004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122A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Diferencial Code Assessment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6524625" y="4171801"/>
            <a:ext cx="4279392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Alternativa ágil e focada em resultados reais.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524625" y="4400401"/>
            <a:ext cx="4279392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Eficiência operacional sem a complexidade dos gigantes.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14432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54272" y="571500"/>
            <a:ext cx="10991088" cy="6309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122A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Concorrência: Plataformas Modernas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54796" y="1238250"/>
            <a:ext cx="10936224" cy="28346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980"/>
              </a:lnSpc>
              <a:buNone/>
            </a:pPr>
            <a:r>
              <a:rPr lang="en-US" sz="1650" dirty="0">
                <a:solidFill>
                  <a:srgbClr val="1E53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Code_Assessment: Plataforma de Gestão de Segurança da Informação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62000" y="2057400"/>
            <a:ext cx="5143500" cy="42291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762000" y="2081212"/>
            <a:ext cx="5143500" cy="0"/>
          </a:xfrm>
          <a:prstGeom prst="line">
            <a:avLst/>
          </a:prstGeom>
          <a:noFill/>
          <a:ln w="47625">
            <a:solidFill>
              <a:srgbClr val="1E535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1143000" y="2486025"/>
            <a:ext cx="4517136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kern="0" spc="70" dirty="0">
                <a:solidFill>
                  <a:srgbClr val="1E535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PANORAMA ATUAL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143000" y="2858393"/>
            <a:ext cx="4535424" cy="32918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950" b="1" dirty="0">
                <a:solidFill>
                  <a:srgbClr val="122A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Foco em Automação: Vanta e Drata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143000" y="3442618"/>
            <a:ext cx="4434840" cy="15361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2423"/>
              </a:lnSpc>
              <a:buNone/>
            </a:pPr>
            <a:r>
              <a:rPr lang="en-US" sz="1425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Estas plataformas priorizam a automação de evidências e o monitoramento contínuo. Embora eficientes em coletas automáticas, podem apresentar lacunas na cobertura metodológica e na adequação normativa regional completa.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6286500" y="2057400"/>
            <a:ext cx="5143500" cy="4229100"/>
          </a:xfrm>
          <a:prstGeom prst="rect">
            <a:avLst/>
          </a:prstGeom>
          <a:solidFill>
            <a:srgbClr val="30736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667500" y="2438400"/>
            <a:ext cx="4517136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kern="0" spc="70" dirty="0">
                <a:solidFill>
                  <a:srgbClr val="FFFFFF">
                    <a:alpha val="80000"/>
                  </a:srgbClr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NOSSO DIFERENCIAL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667500" y="2810768"/>
            <a:ext cx="4535424" cy="32918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Adequação Normativa Plena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6667500" y="3394993"/>
            <a:ext cx="4434840" cy="15361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2423"/>
              </a:lnSpc>
              <a:buNone/>
            </a:pPr>
            <a:r>
              <a:rPr lang="en-US" sz="14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Code_Assessment entrega uma jornada metodológica profunda baseada na expertise da MRS Consultoria. Garantimos governança real e aderência total aos frameworks ISO e LGPD, indo muito além da simples coleta de dados.</a:t>
            </a:r>
            <a:endParaRPr lang="en-US" sz="142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088566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1015901"/>
            <a:ext cx="4379976" cy="99669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3420"/>
              </a:lnSpc>
              <a:buNone/>
            </a:pPr>
            <a:r>
              <a:rPr lang="en-US" sz="2850" b="1" dirty="0">
                <a:solidFill>
                  <a:srgbClr val="122A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Concorrência: Planilhas e Processos Manuais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762000" y="2103537"/>
            <a:ext cx="4334256" cy="48463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1890"/>
              </a:lnSpc>
              <a:buNone/>
            </a:pPr>
            <a:r>
              <a:rPr lang="en-US" sz="1350" dirty="0">
                <a:solidFill>
                  <a:srgbClr val="1E53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Superando métodos arcaicos com a Plataforma de Gestão de Segurança da Informação.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62000" y="3057823"/>
            <a:ext cx="4434840" cy="34747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07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 Cenário Atual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2000" y="3512939"/>
            <a:ext cx="4334256" cy="110642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2167"/>
              </a:lnSpc>
              <a:buNone/>
            </a:pPr>
            <a:r>
              <a:rPr lang="en-US" sz="1275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maior concorrente atual é o uso arcaico de Excel e e-mail. Existe uma oportunidade real de digitalizar o mercado tradicional, focando na eliminação de gargalos manuais.</a:t>
            </a:r>
            <a:endParaRPr lang="en-US" sz="1275" dirty="0"/>
          </a:p>
        </p:txBody>
      </p:sp>
      <p:sp>
        <p:nvSpPr>
          <p:cNvPr id="7" name="Text 5"/>
          <p:cNvSpPr/>
          <p:nvPr/>
        </p:nvSpPr>
        <p:spPr>
          <a:xfrm>
            <a:off x="5619750" y="1015901"/>
            <a:ext cx="2809875" cy="1533525"/>
          </a:xfrm>
          <a:prstGeom prst="roundRect">
            <a:avLst>
              <a:gd name="adj" fmla="val 3727"/>
            </a:avLst>
          </a:prstGeom>
          <a:solidFill>
            <a:srgbClr val="30736C">
              <a:alpha val="12000"/>
            </a:srgbClr>
          </a:solidFill>
          <a:ln w="9525">
            <a:solidFill>
              <a:srgbClr val="30736C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485049" y="1215926"/>
            <a:ext cx="1124712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122A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Uso de Excel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819775" y="1492151"/>
            <a:ext cx="2450592" cy="6035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125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Processos descentralizados e propensos a erros humanos críticos.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6251972" y="2187476"/>
            <a:ext cx="1581912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1050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Foco: Digitalização Total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20125" y="1015901"/>
            <a:ext cx="2809875" cy="1533525"/>
          </a:xfrm>
          <a:prstGeom prst="roundRect">
            <a:avLst>
              <a:gd name="adj" fmla="val 3727"/>
            </a:avLst>
          </a:prstGeom>
          <a:solidFill>
            <a:srgbClr val="FFFFFF"/>
          </a:solidFill>
          <a:ln w="9525">
            <a:solidFill>
              <a:srgbClr val="1E535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368838" y="1215926"/>
            <a:ext cx="1362456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307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Fluxo de E-mail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820150" y="1492151"/>
            <a:ext cx="2450592" cy="6035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125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Informações fragmentadas que dificultam a gestão de riscos e auditoria.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9398079" y="2187476"/>
            <a:ext cx="1289304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1050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Foco: Centralização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619750" y="2739926"/>
            <a:ext cx="2809875" cy="1533525"/>
          </a:xfrm>
          <a:prstGeom prst="roundRect">
            <a:avLst>
              <a:gd name="adj" fmla="val 3727"/>
            </a:avLst>
          </a:prstGeom>
          <a:solidFill>
            <a:srgbClr val="FFFFFF"/>
          </a:solidFill>
          <a:ln w="9525">
            <a:solidFill>
              <a:srgbClr val="1E535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363605" y="3039963"/>
            <a:ext cx="1371600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307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Gestão Manual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819775" y="3316188"/>
            <a:ext cx="2450592" cy="4023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125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Baixa visibilidade sobre a postura de segurança da organização.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6470571" y="3811488"/>
            <a:ext cx="1143000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1050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Foco: Automação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620125" y="2739926"/>
            <a:ext cx="2809875" cy="1533525"/>
          </a:xfrm>
          <a:prstGeom prst="roundRect">
            <a:avLst>
              <a:gd name="adj" fmla="val 3727"/>
            </a:avLst>
          </a:prstGeom>
          <a:solidFill>
            <a:srgbClr val="30736C">
              <a:alpha val="12000"/>
            </a:srgbClr>
          </a:solidFill>
          <a:ln w="9525">
            <a:solidFill>
              <a:srgbClr val="30736C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9247394" y="2939951"/>
            <a:ext cx="1600200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122A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Sistemas Legados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820150" y="3216176"/>
            <a:ext cx="2450592" cy="6035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125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Resistência cultural que abre espaço para soluções modernas e ágeis.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9543812" y="3911501"/>
            <a:ext cx="996696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1050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Foco: Inovação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619750" y="4559201"/>
            <a:ext cx="5989320" cy="34747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07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Diferencial Estratégico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619750" y="5014838"/>
            <a:ext cx="5852160" cy="8321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2167"/>
              </a:lnSpc>
              <a:buNone/>
            </a:pPr>
            <a:r>
              <a:rPr lang="en-US" sz="1275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Utilizamos a eficiência operacional como principal argumento de venda para a gestão de riscos, transformando a segurança em um ativo estratégico de negócio.</a:t>
            </a:r>
            <a:endParaRPr lang="en-US" sz="1275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088566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14375" y="1285875"/>
            <a:ext cx="5715000" cy="4286250"/>
          </a:xfrm>
          <a:prstGeom prst="rect">
            <a:avLst/>
          </a:prstGeom>
          <a:solidFill>
            <a:srgbClr val="1E535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" name="Image 0" descr="image.png"/>
          <p:cNvPicPr>
            <a:picLocks noChangeAspect="1"/>
          </p:cNvPicPr>
          <p:nvPr/>
        </p:nvPicPr>
        <p:blipFill>
          <a:blip r:embed="rId3"/>
          <a:srcRect r="25000"/>
          <a:stretch/>
        </p:blipFill>
        <p:spPr>
          <a:xfrm>
            <a:off x="714375" y="1285875"/>
            <a:ext cx="5715000" cy="42862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5375" y="3692128"/>
            <a:ext cx="4953000" cy="1498997"/>
          </a:xfrm>
          <a:prstGeom prst="rect">
            <a:avLst/>
          </a:prstGeom>
          <a:solidFill>
            <a:srgbClr val="F2F2F2">
              <a:alpha val="9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285875" y="3884414"/>
            <a:ext cx="4663440" cy="82296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22A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Posicionamento Estratégico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1285875" y="4800600"/>
            <a:ext cx="4709160" cy="2286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dirty="0">
                <a:solidFill>
                  <a:srgbClr val="1E53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 planilha ao controle contínuo da segurança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191375" y="1276350"/>
            <a:ext cx="762000" cy="762000"/>
          </a:xfrm>
          <a:prstGeom prst="roundRect">
            <a:avLst>
              <a:gd name="adj" fmla="val 1200000"/>
            </a:avLst>
          </a:prstGeom>
          <a:solidFill>
            <a:srgbClr val="122A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9" name="Image 1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439025" y="1504950"/>
            <a:ext cx="266700" cy="304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39125" y="1009650"/>
            <a:ext cx="3364992" cy="320040"/>
          </a:xfrm>
          <a:prstGeom prst="rect">
            <a:avLst/>
          </a:prstGeom>
          <a:noFill/>
          <a:ln/>
        </p:spPr>
        <p:txBody>
          <a:bodyPr vert="horz" wrap="none" lIns="0" tIns="0" rIns="190500" bIns="0" rtlCol="0" anchor="t">
            <a:normAutofit/>
          </a:bodyPr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122A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DNA Brasileiro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8239125" y="1390650"/>
            <a:ext cx="3282696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1800"/>
              </a:lnSpc>
              <a:buNone/>
            </a:pPr>
            <a:r>
              <a:rPr lang="en-US" sz="1125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Code_Assessment é a plataforma nacional que digitaliza a conformidade para empresas locais, substituindo processos manuais por GRC estruturado.</a:t>
            </a:r>
            <a:endParaRPr lang="en-US" sz="1125" dirty="0"/>
          </a:p>
        </p:txBody>
      </p:sp>
      <p:sp>
        <p:nvSpPr>
          <p:cNvPr id="12" name="Text 8"/>
          <p:cNvSpPr/>
          <p:nvPr/>
        </p:nvSpPr>
        <p:spPr>
          <a:xfrm>
            <a:off x="7191375" y="3048000"/>
            <a:ext cx="762000" cy="762000"/>
          </a:xfrm>
          <a:prstGeom prst="roundRect">
            <a:avLst>
              <a:gd name="adj" fmla="val 1200000"/>
            </a:avLst>
          </a:prstGeom>
          <a:solidFill>
            <a:srgbClr val="30736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3" name="Image 2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419975" y="3276600"/>
            <a:ext cx="304800" cy="3048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39125" y="2781300"/>
            <a:ext cx="3364992" cy="320040"/>
          </a:xfrm>
          <a:prstGeom prst="rect">
            <a:avLst/>
          </a:prstGeom>
          <a:noFill/>
          <a:ln/>
        </p:spPr>
        <p:txBody>
          <a:bodyPr vert="horz" wrap="none" lIns="0" tIns="0" rIns="190500" bIns="0" rtlCol="0" anchor="t">
            <a:normAutofit/>
          </a:bodyPr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1E535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Visão Futura 2026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8239125" y="3162300"/>
            <a:ext cx="3282696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1800"/>
              </a:lnSpc>
              <a:buNone/>
            </a:pPr>
            <a:r>
              <a:rPr lang="en-US" sz="1125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Foco total no controle contínuo e automação, alinhando as necessidades do mercado do Brasil aos mais rigorosos padrões normativos globais.</a:t>
            </a:r>
            <a:endParaRPr lang="en-US" sz="1125" dirty="0"/>
          </a:p>
        </p:txBody>
      </p:sp>
      <p:sp>
        <p:nvSpPr>
          <p:cNvPr id="16" name="Text 11"/>
          <p:cNvSpPr/>
          <p:nvPr/>
        </p:nvSpPr>
        <p:spPr>
          <a:xfrm>
            <a:off x="7191375" y="4819650"/>
            <a:ext cx="762000" cy="762000"/>
          </a:xfrm>
          <a:prstGeom prst="roundRect">
            <a:avLst>
              <a:gd name="adj" fmla="val 1200000"/>
            </a:avLst>
          </a:prstGeom>
          <a:solidFill>
            <a:srgbClr val="122A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7" name="Image 3" descr="imag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400925" y="5048250"/>
            <a:ext cx="342900" cy="3048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239125" y="4552950"/>
            <a:ext cx="3364992" cy="320040"/>
          </a:xfrm>
          <a:prstGeom prst="rect">
            <a:avLst/>
          </a:prstGeom>
          <a:noFill/>
          <a:ln/>
        </p:spPr>
        <p:txBody>
          <a:bodyPr vert="horz" wrap="none" lIns="0" tIns="0" rIns="190500" bIns="0" rtlCol="0" anchor="t">
            <a:normAutofit/>
          </a:bodyPr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122A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Gestão Integrada</a:t>
            </a:r>
            <a:endParaRPr lang="en-US" sz="1650" dirty="0"/>
          </a:p>
        </p:txBody>
      </p:sp>
      <p:sp>
        <p:nvSpPr>
          <p:cNvPr id="19" name="Text 13"/>
          <p:cNvSpPr/>
          <p:nvPr/>
        </p:nvSpPr>
        <p:spPr>
          <a:xfrm>
            <a:off x="8239125" y="4933950"/>
            <a:ext cx="3282696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1800"/>
              </a:lnSpc>
              <a:buNone/>
            </a:pPr>
            <a:r>
              <a:rPr lang="en-US" sz="1125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Transformamos a conformidade em um ativo estratégico através da digitalização e estruturação robusta focada na realidade local e normas globais.</a:t>
            </a:r>
            <a:endParaRPr lang="en-US" sz="1125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912941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945059"/>
            <a:ext cx="4096512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122A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Diferenciais da MRS Consultoria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62000" y="1954709"/>
            <a:ext cx="4050792" cy="4023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dirty="0">
                <a:solidFill>
                  <a:srgbClr val="1E53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Code_Assessment: Plataforma de Gestão de Segurança da Informação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62000" y="2831009"/>
            <a:ext cx="4142232" cy="32004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122A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Experiência Prática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62000" y="3258592"/>
            <a:ext cx="4041648" cy="74066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1920"/>
              </a:lnSpc>
              <a:buNone/>
            </a:pPr>
            <a:r>
              <a:rPr lang="en-US" sz="1200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União real entre auditoria e desenvolvimento, nascida da necessidade cotidiana de consultores especializados no setor.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62000" y="4371975"/>
            <a:ext cx="4142232" cy="32004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122A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Conhecimento em GRC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762000" y="4799558"/>
            <a:ext cx="4041648" cy="74066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1920"/>
              </a:lnSpc>
              <a:buNone/>
            </a:pPr>
            <a:r>
              <a:rPr lang="en-US" sz="1200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Expertise profunda em ISO 27001 e GRC, assegurando uma governança robusta e preparada para os desafios de 2026.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34000" y="1428750"/>
            <a:ext cx="1905000" cy="1905000"/>
          </a:xfrm>
          <a:prstGeom prst="rect">
            <a:avLst/>
          </a:prstGeom>
          <a:solidFill>
            <a:srgbClr val="122A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552456" y="2257425"/>
            <a:ext cx="1527048" cy="28346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F2F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Auditoria Real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7429500" y="1428750"/>
            <a:ext cx="1905000" cy="190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0736C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629525" y="2133600"/>
            <a:ext cx="1563624" cy="50292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3073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Foco em ISO 27001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9525000" y="1428750"/>
            <a:ext cx="1905000" cy="1905000"/>
          </a:xfrm>
          <a:prstGeom prst="rect">
            <a:avLst/>
          </a:prstGeom>
          <a:solidFill>
            <a:srgbClr val="122A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715500" y="2133600"/>
            <a:ext cx="1581912" cy="50292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F2F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Gestão de Riscos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334000" y="3524250"/>
            <a:ext cx="1905000" cy="190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0736C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534025" y="4229100"/>
            <a:ext cx="1563624" cy="50292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3073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Visão de Consultor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7429500" y="3524250"/>
            <a:ext cx="1905000" cy="1905000"/>
          </a:xfrm>
          <a:prstGeom prst="rect">
            <a:avLst/>
          </a:prstGeom>
          <a:solidFill>
            <a:srgbClr val="122A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609094" y="4352925"/>
            <a:ext cx="1600200" cy="28346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F2F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Governança TI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9525000" y="3524250"/>
            <a:ext cx="1905000" cy="1905000"/>
          </a:xfrm>
          <a:prstGeom prst="rect">
            <a:avLst/>
          </a:prstGeom>
          <a:solidFill>
            <a:srgbClr val="FFFFFF"/>
          </a:solidFill>
          <a:ln w="9525">
            <a:solidFill>
              <a:srgbClr val="30736C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9725025" y="4229100"/>
            <a:ext cx="1563624" cy="50292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3073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Prontidão 2026</a:t>
            </a:r>
            <a:endParaRPr lang="en-US" sz="16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099717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14375" y="1047750"/>
            <a:ext cx="5715000" cy="4762500"/>
          </a:xfrm>
          <a:prstGeom prst="rect">
            <a:avLst/>
          </a:prstGeom>
          <a:solidFill>
            <a:srgbClr val="1E535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" name="Image 0" descr="image.png"/>
          <p:cNvPicPr>
            <a:picLocks noChangeAspect="1"/>
          </p:cNvPicPr>
          <p:nvPr/>
        </p:nvPicPr>
        <p:blipFill>
          <a:blip r:embed="rId3"/>
          <a:srcRect r="45600"/>
          <a:stretch/>
        </p:blipFill>
        <p:spPr>
          <a:xfrm>
            <a:off x="714375" y="1047750"/>
            <a:ext cx="5715000" cy="4762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91375" y="2171700"/>
            <a:ext cx="762000" cy="762000"/>
          </a:xfrm>
          <a:prstGeom prst="roundRect">
            <a:avLst>
              <a:gd name="adj" fmla="val 1200000"/>
            </a:avLst>
          </a:prstGeom>
          <a:solidFill>
            <a:srgbClr val="30736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8" name="Image 1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377113" y="2381250"/>
            <a:ext cx="390525" cy="3429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39125" y="2171700"/>
            <a:ext cx="3364992" cy="320040"/>
          </a:xfrm>
          <a:prstGeom prst="rect">
            <a:avLst/>
          </a:prstGeom>
          <a:noFill/>
          <a:ln/>
        </p:spPr>
        <p:txBody>
          <a:bodyPr vert="horz" wrap="none" lIns="0" tIns="0" rIns="190500" bIns="0" rtlCol="0" anchor="t">
            <a:normAutofit/>
          </a:bodyPr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122A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Suporte e Evolução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8239125" y="2552700"/>
            <a:ext cx="3282696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1800"/>
              </a:lnSpc>
              <a:buNone/>
            </a:pPr>
            <a:r>
              <a:rPr lang="en-US" sz="1125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Fornecimento de tecnologia e metodologia com evolução contínua do produto baseada no feedback direto dos usuários para eficiência.</a:t>
            </a:r>
            <a:endParaRPr lang="en-US" sz="1125" dirty="0"/>
          </a:p>
        </p:txBody>
      </p:sp>
      <p:sp>
        <p:nvSpPr>
          <p:cNvPr id="11" name="Text 7"/>
          <p:cNvSpPr/>
          <p:nvPr/>
        </p:nvSpPr>
        <p:spPr>
          <a:xfrm>
            <a:off x="7191375" y="3619500"/>
            <a:ext cx="762000" cy="762000"/>
          </a:xfrm>
          <a:prstGeom prst="roundRect">
            <a:avLst>
              <a:gd name="adj" fmla="val 1200000"/>
            </a:avLst>
          </a:prstGeom>
          <a:solidFill>
            <a:srgbClr val="30736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2" name="Image 2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400925" y="3829050"/>
            <a:ext cx="342900" cy="3429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239125" y="3619500"/>
            <a:ext cx="3364992" cy="320040"/>
          </a:xfrm>
          <a:prstGeom prst="rect">
            <a:avLst/>
          </a:prstGeom>
          <a:noFill/>
          <a:ln/>
        </p:spPr>
        <p:txBody>
          <a:bodyPr vert="horz" wrap="none" lIns="0" tIns="0" rIns="190500" bIns="0" rtlCol="0" anchor="t">
            <a:normAutofit/>
          </a:bodyPr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122A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Assinaturas Recorrentes</a:t>
            </a:r>
            <a:endParaRPr lang="en-US" sz="1650" dirty="0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F20D281F-0532-710A-D406-25F78128E949}"/>
              </a:ext>
            </a:extLst>
          </p:cNvPr>
          <p:cNvSpPr/>
          <p:nvPr/>
        </p:nvSpPr>
        <p:spPr>
          <a:xfrm>
            <a:off x="512956" y="3995765"/>
            <a:ext cx="5916419" cy="1498997"/>
          </a:xfrm>
          <a:prstGeom prst="rect">
            <a:avLst/>
          </a:prstGeom>
          <a:solidFill>
            <a:srgbClr val="F2F2F2">
              <a:alpha val="9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9"/>
          <p:cNvSpPr/>
          <p:nvPr/>
        </p:nvSpPr>
        <p:spPr>
          <a:xfrm>
            <a:off x="8239125" y="4000500"/>
            <a:ext cx="3282696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1800"/>
              </a:lnSpc>
              <a:buNone/>
            </a:pPr>
            <a:r>
              <a:rPr lang="en-US" sz="1125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Estrutura de assinaturas para empresas finais, permitindo uma gestão de conformidade escalável, previsível e totalmente segura.</a:t>
            </a:r>
            <a:endParaRPr lang="en-US" sz="1125" dirty="0"/>
          </a:p>
        </p:txBody>
      </p:sp>
      <p:sp>
        <p:nvSpPr>
          <p:cNvPr id="18" name="Text 2">
            <a:extLst>
              <a:ext uri="{FF2B5EF4-FFF2-40B4-BE49-F238E27FC236}">
                <a16:creationId xmlns:a16="http://schemas.microsoft.com/office/drawing/2014/main" id="{DDFD2815-A921-197F-7B95-9A54E0177FB0}"/>
              </a:ext>
            </a:extLst>
          </p:cNvPr>
          <p:cNvSpPr/>
          <p:nvPr/>
        </p:nvSpPr>
        <p:spPr>
          <a:xfrm>
            <a:off x="903202" y="4239980"/>
            <a:ext cx="5047488" cy="82296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980"/>
              </a:lnSpc>
            </a:pPr>
            <a:r>
              <a:rPr lang="en-US" sz="2400" b="1" dirty="0">
                <a:solidFill>
                  <a:srgbClr val="122A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Modelo de Negócio: B2B SaaS</a:t>
            </a:r>
          </a:p>
        </p:txBody>
      </p:sp>
      <p:sp>
        <p:nvSpPr>
          <p:cNvPr id="20" name="Text 3">
            <a:extLst>
              <a:ext uri="{FF2B5EF4-FFF2-40B4-BE49-F238E27FC236}">
                <a16:creationId xmlns:a16="http://schemas.microsoft.com/office/drawing/2014/main" id="{195E0EBD-0155-88E4-193D-215F6852BD3B}"/>
              </a:ext>
            </a:extLst>
          </p:cNvPr>
          <p:cNvSpPr/>
          <p:nvPr/>
        </p:nvSpPr>
        <p:spPr>
          <a:xfrm>
            <a:off x="903202" y="4745263"/>
            <a:ext cx="5001768" cy="4023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1620"/>
              </a:lnSpc>
              <a:buNone/>
            </a:pPr>
            <a:r>
              <a:rPr lang="en-US" sz="1350" dirty="0">
                <a:latin typeface="Inter" pitchFamily="34" charset="0"/>
                <a:ea typeface="Inter" pitchFamily="34" charset="-122"/>
                <a:cs typeface="Inter" pitchFamily="34" charset="-120"/>
              </a:rPr>
              <a:t>Tecnologia e suporte especializado para a gestão de segurança da informação.</a:t>
            </a:r>
            <a:endParaRPr lang="en-US" sz="13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14432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832545"/>
            <a:ext cx="4389120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122A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Modelo de Negócio: B2B2B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62000" y="1842195"/>
            <a:ext cx="4334256" cy="4023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1620"/>
              </a:lnSpc>
              <a:buNone/>
            </a:pPr>
            <a:r>
              <a:rPr lang="en-US" sz="1350" dirty="0">
                <a:solidFill>
                  <a:srgbClr val="1E53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Parceria estratégica com consultorias para gestão robusta de múltiplos clientes simultâneos.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62000" y="2718495"/>
            <a:ext cx="4425696" cy="32004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307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Ecossistema White Label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62000" y="3117503"/>
            <a:ext cx="4325112" cy="74066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1920"/>
              </a:lnSpc>
              <a:buNone/>
            </a:pPr>
            <a:r>
              <a:rPr lang="en-US" sz="1200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Permitimos que consultores e empresas de TI expandam sua oferta de serviços com governança digital e escalabilidade.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62000" y="4230886"/>
            <a:ext cx="4425696" cy="32004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307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Segurança em Setores Dinâmicos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762000" y="4629894"/>
            <a:ext cx="4325112" cy="74066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1920"/>
              </a:lnSpc>
              <a:buNone/>
            </a:pPr>
            <a:r>
              <a:rPr lang="en-US" sz="1200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Ideal para portais que buscam segurança escalável, integrando soluções de proteção em ambientes de alta demanda.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15000" y="832545"/>
            <a:ext cx="5715000" cy="3810000"/>
          </a:xfrm>
          <a:prstGeom prst="roundRect">
            <a:avLst>
              <a:gd name="adj" fmla="val 2000"/>
            </a:avLst>
          </a:prstGeom>
          <a:solidFill>
            <a:srgbClr val="D1D1D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0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15000" y="832545"/>
            <a:ext cx="5715000" cy="3810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715000" y="4928295"/>
            <a:ext cx="1777901" cy="1097161"/>
          </a:xfrm>
          <a:prstGeom prst="roundRect">
            <a:avLst>
              <a:gd name="adj" fmla="val 5209"/>
            </a:avLst>
          </a:prstGeom>
          <a:solidFill>
            <a:srgbClr val="30736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5808613" y="5116860"/>
            <a:ext cx="1636776" cy="4023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Parcerias Estratégicas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107936" y="5560665"/>
            <a:ext cx="1051560" cy="31089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2145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Escalável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7683401" y="4928295"/>
            <a:ext cx="1778050" cy="1097161"/>
          </a:xfrm>
          <a:prstGeom prst="roundRect">
            <a:avLst>
              <a:gd name="adj" fmla="val 5209"/>
            </a:avLst>
          </a:prstGeom>
          <a:solidFill>
            <a:srgbClr val="FFFFFF"/>
          </a:solidFill>
          <a:ln w="9525">
            <a:solidFill>
              <a:srgbClr val="30736C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7887027" y="5216798"/>
            <a:ext cx="1417320" cy="2286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Múltiplos Clientes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197781" y="5461546"/>
            <a:ext cx="804672" cy="31089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2145"/>
              </a:lnSpc>
              <a:buNone/>
            </a:pPr>
            <a:r>
              <a:rPr lang="en-US" sz="1650" b="1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Gestão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9651950" y="4928295"/>
            <a:ext cx="1778050" cy="1097161"/>
          </a:xfrm>
          <a:prstGeom prst="roundRect">
            <a:avLst>
              <a:gd name="adj" fmla="val 5209"/>
            </a:avLst>
          </a:prstGeom>
          <a:solidFill>
            <a:srgbClr val="30736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9816715" y="5216798"/>
            <a:ext cx="1490472" cy="2286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Governança Digital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0185761" y="5461546"/>
            <a:ext cx="768096" cy="31089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2145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B2B2B</a:t>
            </a:r>
            <a:endParaRPr lang="en-US" sz="1650" dirty="0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4EF8B358-9AAA-6869-27A9-DDAB4987F865}"/>
              </a:ext>
            </a:extLst>
          </p:cNvPr>
          <p:cNvSpPr txBox="1"/>
          <p:nvPr/>
        </p:nvSpPr>
        <p:spPr>
          <a:xfrm>
            <a:off x="7792485" y="2520207"/>
            <a:ext cx="1859465" cy="34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350" dirty="0">
                <a:solidFill>
                  <a:srgbClr val="1E53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Imagem a definir</a:t>
            </a:r>
            <a:endParaRPr lang="en-US" sz="13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165503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2192000" cy="2667000"/>
          </a:xfrm>
          <a:prstGeom prst="rect">
            <a:avLst/>
          </a:prstGeom>
          <a:solidFill>
            <a:srgbClr val="122A4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54177" y="692497"/>
            <a:ext cx="11000232" cy="6126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Estratégia de Monetização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809750" y="1383953"/>
            <a:ext cx="8631936" cy="59436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31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Nossa estrutura B2B SaaS foca em escalabilidade e valor, oferecendo soluções flexíveis para diferentes níveis de maturidade em segurança da informação.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62000" y="3238500"/>
            <a:ext cx="666750" cy="685800"/>
          </a:xfrm>
          <a:prstGeom prst="roundRect">
            <a:avLst>
              <a:gd name="adj" fmla="val 11429"/>
            </a:avLst>
          </a:prstGeom>
          <a:solidFill>
            <a:srgbClr val="30736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3333750"/>
            <a:ext cx="420624" cy="54864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3900" dirty="0"/>
          </a:p>
        </p:txBody>
      </p:sp>
      <p:sp>
        <p:nvSpPr>
          <p:cNvPr id="8" name="Text 6"/>
          <p:cNvSpPr/>
          <p:nvPr/>
        </p:nvSpPr>
        <p:spPr>
          <a:xfrm>
            <a:off x="1617613" y="3335610"/>
            <a:ext cx="2313432" cy="28346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122A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Planos Recorrentes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760363" y="4114651"/>
            <a:ext cx="3346704" cy="122529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1920"/>
              </a:lnSpc>
              <a:buNone/>
            </a:pPr>
            <a:r>
              <a:rPr lang="en-US" sz="1200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Modelos Starter, Professional e Business com valores entre R$ 99 e R$ 5.000 mensais. A precificação é ajustada conforme o volume de dados e funcionalidades ativas na plataforma.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444901" y="3238500"/>
            <a:ext cx="666750" cy="685800"/>
          </a:xfrm>
          <a:prstGeom prst="roundRect">
            <a:avLst>
              <a:gd name="adj" fmla="val 11429"/>
            </a:avLst>
          </a:prstGeom>
          <a:solidFill>
            <a:srgbClr val="30736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635401" y="3333750"/>
            <a:ext cx="420624" cy="54864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3900" dirty="0"/>
          </a:p>
        </p:txBody>
      </p:sp>
      <p:sp>
        <p:nvSpPr>
          <p:cNvPr id="12" name="Text 10"/>
          <p:cNvSpPr/>
          <p:nvPr/>
        </p:nvSpPr>
        <p:spPr>
          <a:xfrm>
            <a:off x="5300588" y="3335610"/>
            <a:ext cx="2313432" cy="28346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122A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Opções Enterprise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4443338" y="4114651"/>
            <a:ext cx="3346704" cy="122529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Projetos customizados para grandes organizações que demandam suporte dedicado 24/7 e integrações complexas. Soluções sob consulta para atender requisitos específicos de governança.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27950" y="3238500"/>
            <a:ext cx="666750" cy="685800"/>
          </a:xfrm>
          <a:prstGeom prst="roundRect">
            <a:avLst>
              <a:gd name="adj" fmla="val 11429"/>
            </a:avLst>
          </a:prstGeom>
          <a:solidFill>
            <a:srgbClr val="30736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318450" y="3333750"/>
            <a:ext cx="420624" cy="54864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3900" dirty="0"/>
          </a:p>
        </p:txBody>
      </p:sp>
      <p:sp>
        <p:nvSpPr>
          <p:cNvPr id="16" name="Text 14"/>
          <p:cNvSpPr/>
          <p:nvPr/>
        </p:nvSpPr>
        <p:spPr>
          <a:xfrm>
            <a:off x="8983563" y="3335610"/>
            <a:ext cx="2313432" cy="28346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122A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Serviços de Valor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8126313" y="4114651"/>
            <a:ext cx="3346704" cy="122529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Geração de receita adicional através de consultoria especializada, implantação técnica assistida e treinamentos de capacitação para equipes de TI e segurança cibernética.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191250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573360"/>
            <a:ext cx="10991088" cy="5303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3780"/>
              </a:lnSpc>
              <a:buNone/>
            </a:pPr>
            <a:r>
              <a:rPr lang="en-US" sz="3150" b="1" dirty="0">
                <a:solidFill>
                  <a:srgbClr val="122A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Code_Assessment: Plataforma de Gestão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762000" y="1194346"/>
            <a:ext cx="10936224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E53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Estratégias para expansão de receita e serviços especializados em segurança da informação.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62000" y="2167310"/>
            <a:ext cx="4443984" cy="484632"/>
          </a:xfrm>
          <a:prstGeom prst="rect">
            <a:avLst/>
          </a:prstGeom>
          <a:noFill/>
          <a:ln/>
        </p:spPr>
        <p:txBody>
          <a:bodyPr vert="horz" wrap="none" lIns="0" tIns="0" rIns="0" bIns="95250" rtlCol="0" anchor="t">
            <a:normAutofit/>
          </a:bodyPr>
          <a:lstStyle/>
          <a:p>
            <a:pPr marL="0" indent="0" algn="l">
              <a:lnSpc>
                <a:spcPts val="2730"/>
              </a:lnSpc>
              <a:buNone/>
            </a:pPr>
            <a:r>
              <a:rPr lang="en-US" sz="2100" b="1" dirty="0">
                <a:solidFill>
                  <a:srgbClr val="122A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Receita Adicional e Serviços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62000" y="2795736"/>
            <a:ext cx="4334256" cy="110642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2167"/>
              </a:lnSpc>
              <a:buNone/>
            </a:pPr>
            <a:r>
              <a:rPr lang="en-US" sz="1275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Nossa estratégia foca na expansão de ganhos através de taxas de implantação e customização de frameworks, garantindo conformidade e segurança robusta.</a:t>
            </a:r>
            <a:endParaRPr lang="en-US" sz="1275" dirty="0"/>
          </a:p>
        </p:txBody>
      </p:sp>
      <p:sp>
        <p:nvSpPr>
          <p:cNvPr id="7" name="Text 5"/>
          <p:cNvSpPr/>
          <p:nvPr/>
        </p:nvSpPr>
        <p:spPr>
          <a:xfrm>
            <a:off x="762000" y="4087490"/>
            <a:ext cx="4334256" cy="8321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2167"/>
              </a:lnSpc>
              <a:buNone/>
            </a:pPr>
            <a:r>
              <a:rPr lang="en-US" sz="1275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Oferecemos serviços profissionais de análise de riscos e consultoria estratégica para alinhar a tecnologia aos objetivos de negócio dos clientes.</a:t>
            </a:r>
            <a:endParaRPr lang="en-US" sz="1275" dirty="0"/>
          </a:p>
        </p:txBody>
      </p:sp>
      <p:sp>
        <p:nvSpPr>
          <p:cNvPr id="8" name="Text 6"/>
          <p:cNvSpPr/>
          <p:nvPr/>
        </p:nvSpPr>
        <p:spPr>
          <a:xfrm>
            <a:off x="762000" y="5103540"/>
            <a:ext cx="4334256" cy="8321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2167"/>
              </a:lnSpc>
              <a:buNone/>
            </a:pPr>
            <a:r>
              <a:rPr lang="en-US" sz="1275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Promovemos treinamentos especializados e o desenvolvimento de um marketplace futuro baseado em avaliações de segurança em nuvem.</a:t>
            </a:r>
            <a:endParaRPr lang="en-US" sz="1275" dirty="0"/>
          </a:p>
        </p:txBody>
      </p:sp>
      <p:sp>
        <p:nvSpPr>
          <p:cNvPr id="9" name="Text 7"/>
          <p:cNvSpPr/>
          <p:nvPr/>
        </p:nvSpPr>
        <p:spPr>
          <a:xfrm>
            <a:off x="5810250" y="2095500"/>
            <a:ext cx="2667000" cy="1905000"/>
          </a:xfrm>
          <a:prstGeom prst="roundRect">
            <a:avLst>
              <a:gd name="adj" fmla="val 3000"/>
            </a:avLst>
          </a:prstGeom>
          <a:solidFill>
            <a:srgbClr val="1E535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536055" y="2747963"/>
            <a:ext cx="1271016" cy="29260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2F2F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Frameworks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29137" y="3100388"/>
            <a:ext cx="1490472" cy="28346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980"/>
              </a:lnSpc>
              <a:buNone/>
            </a:pPr>
            <a:r>
              <a:rPr lang="en-US" sz="1650" dirty="0">
                <a:solidFill>
                  <a:srgbClr val="F2F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Customização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8763000" y="2095500"/>
            <a:ext cx="2667000" cy="1905000"/>
          </a:xfrm>
          <a:prstGeom prst="roundRect">
            <a:avLst>
              <a:gd name="adj" fmla="val 3000"/>
            </a:avLst>
          </a:prstGeom>
          <a:solidFill>
            <a:srgbClr val="1E535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527667" y="2747963"/>
            <a:ext cx="1188720" cy="29260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2F2F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Consultoria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270159" y="3100388"/>
            <a:ext cx="1709928" cy="28346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980"/>
              </a:lnSpc>
              <a:buNone/>
            </a:pPr>
            <a:r>
              <a:rPr lang="en-US" sz="1650" dirty="0">
                <a:solidFill>
                  <a:srgbClr val="F2F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Análise de Risco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810250" y="4286250"/>
            <a:ext cx="2667000" cy="1905000"/>
          </a:xfrm>
          <a:prstGeom prst="roundRect">
            <a:avLst>
              <a:gd name="adj" fmla="val 3000"/>
            </a:avLst>
          </a:prstGeom>
          <a:solidFill>
            <a:srgbClr val="1E535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977414" y="4938713"/>
            <a:ext cx="2386584" cy="29260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2F2F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Cloud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977366" y="5291138"/>
            <a:ext cx="2386584" cy="28346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980"/>
              </a:lnSpc>
              <a:buNone/>
            </a:pPr>
            <a:r>
              <a:rPr lang="en-US" sz="1650" dirty="0">
                <a:solidFill>
                  <a:srgbClr val="F2F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Marketplace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8763000" y="4286250"/>
            <a:ext cx="2667000" cy="1905000"/>
          </a:xfrm>
          <a:prstGeom prst="roundRect">
            <a:avLst>
              <a:gd name="adj" fmla="val 3000"/>
            </a:avLst>
          </a:prstGeom>
          <a:solidFill>
            <a:srgbClr val="1E535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9503378" y="4938713"/>
            <a:ext cx="1234440" cy="29260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2F2F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Capacitação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411033" y="5291138"/>
            <a:ext cx="1426464" cy="28346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980"/>
              </a:lnSpc>
              <a:buNone/>
            </a:pPr>
            <a:r>
              <a:rPr lang="en-US" sz="1650" dirty="0">
                <a:solidFill>
                  <a:srgbClr val="F2F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Treinamentos</a:t>
            </a:r>
            <a:endParaRPr lang="en-US" sz="16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"/>
            <a:ext cx="12192000" cy="619229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1999" y="665708"/>
            <a:ext cx="7545657" cy="96926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3780"/>
              </a:lnSpc>
              <a:buNone/>
            </a:pPr>
            <a:r>
              <a:rPr lang="en-US" sz="3150" b="1" dirty="0">
                <a:solidFill>
                  <a:srgbClr val="122A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Futuro do Code_Assessment: Fases 1 a 3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757428" y="1323121"/>
            <a:ext cx="7545656" cy="51206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95"/>
              </a:lnSpc>
              <a:buNone/>
            </a:pPr>
            <a:r>
              <a:rPr lang="en-US" sz="1425" kern="0" spc="30" dirty="0">
                <a:solidFill>
                  <a:srgbClr val="1E53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Estratégia para consolidar a governança e evoluir para uma gestão de riscos robusta e integrada.</a:t>
            </a:r>
            <a:endParaRPr lang="en-US" sz="1425" dirty="0"/>
          </a:p>
        </p:txBody>
      </p:sp>
      <p:sp>
        <p:nvSpPr>
          <p:cNvPr id="5" name="Text 3"/>
          <p:cNvSpPr/>
          <p:nvPr/>
        </p:nvSpPr>
        <p:spPr>
          <a:xfrm>
            <a:off x="762000" y="2306387"/>
            <a:ext cx="2039112" cy="29260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just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07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Consolidação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62000" y="2675481"/>
            <a:ext cx="1984248" cy="10789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1688"/>
              </a:lnSpc>
              <a:buNone/>
            </a:pPr>
            <a:r>
              <a:rPr lang="en-US" sz="1125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Foco total no Assessment e na Gestão de Evidências, estabelecendo uma base sólida para a conformidade operacional.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2990850" y="2306387"/>
            <a:ext cx="2039112" cy="29260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just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07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Evolução GRC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990850" y="2675481"/>
            <a:ext cx="1984248" cy="10789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1688"/>
              </a:lnSpc>
              <a:buNone/>
            </a:pPr>
            <a:r>
              <a:rPr lang="en-US" sz="1125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Migração para um modelo de GRC completo, integrando gestão de riscos e auditorias baseadas em tendências globais.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5219700" y="2306387"/>
            <a:ext cx="2039112" cy="29260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just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07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Integração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219700" y="2675481"/>
            <a:ext cx="1984248" cy="10789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1688"/>
              </a:lnSpc>
              <a:buNone/>
            </a:pPr>
            <a:r>
              <a:rPr lang="en-US" sz="1125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Implementação de módulos de gestão de fornecedores, garantindo uma solução holística para segurança da informação.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762000" y="4225675"/>
            <a:ext cx="6400800" cy="1714500"/>
          </a:xfrm>
          <a:prstGeom prst="rect">
            <a:avLst/>
          </a:prstGeom>
          <a:solidFill>
            <a:srgbClr val="1E5359"/>
          </a:solidFill>
          <a:ln/>
        </p:spPr>
        <p:txBody>
          <a:bodyPr wrap="square" rtlCol="0" anchor="ctr"/>
          <a:lstStyle/>
          <a:p>
            <a:pPr marL="0" indent="0" algn="just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047750" y="4511425"/>
            <a:ext cx="1993392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just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2F2F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Governança Ativa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47750" y="4778125"/>
            <a:ext cx="1993392" cy="3017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just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2F2F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Visão 2026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238500" y="4511425"/>
            <a:ext cx="3675888" cy="1143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just">
              <a:lnSpc>
                <a:spcPts val="1800"/>
              </a:lnSpc>
              <a:buNone/>
            </a:pPr>
            <a:r>
              <a:rPr lang="en-US" sz="1125" dirty="0">
                <a:solidFill>
                  <a:srgbClr val="F2F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plataforma elevará a governança operacional através da integração de auditorias e riscos, alinhando-se às diretrizes da ISACA e IIA para promover um ecossistema de segurança resiliente e escalável.</a:t>
            </a:r>
            <a:endParaRPr lang="en-US" sz="1125" dirty="0"/>
          </a:p>
        </p:txBody>
      </p:sp>
      <p:pic>
        <p:nvPicPr>
          <p:cNvPr id="15" name="Image 0" descr="image.png"/>
          <p:cNvPicPr>
            <a:picLocks noChangeAspect="1"/>
          </p:cNvPicPr>
          <p:nvPr/>
        </p:nvPicPr>
        <p:blipFill>
          <a:blip r:embed="rId3"/>
          <a:srcRect r="37778"/>
          <a:stretch/>
        </p:blipFill>
        <p:spPr>
          <a:xfrm>
            <a:off x="8307658" y="0"/>
            <a:ext cx="388434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21122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6096000" cy="6211229"/>
          </a:xfrm>
          <a:prstGeom prst="rect">
            <a:avLst/>
          </a:prstGeom>
          <a:solidFill>
            <a:srgbClr val="1E535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0" y="0"/>
            <a:ext cx="6096000" cy="6211229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76250" y="1714500"/>
            <a:ext cx="5143500" cy="3429000"/>
          </a:xfrm>
          <a:prstGeom prst="rect">
            <a:avLst/>
          </a:prstGeom>
          <a:solidFill>
            <a:srgbClr val="CCCCC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Image 0" descr="image.png"/>
          <p:cNvPicPr>
            <a:picLocks noChangeAspect="1"/>
          </p:cNvPicPr>
          <p:nvPr/>
        </p:nvPicPr>
        <p:blipFill>
          <a:blip r:embed="rId3"/>
          <a:srcRect r="15595"/>
          <a:stretch/>
        </p:blipFill>
        <p:spPr>
          <a:xfrm>
            <a:off x="476250" y="1714500"/>
            <a:ext cx="5143500" cy="3429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72250" y="952500"/>
            <a:ext cx="5239512" cy="1371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122A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Futuro do Code_Assessment: Fases 4 e 5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6572250" y="2418383"/>
            <a:ext cx="5294376" cy="31089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350" dirty="0">
                <a:solidFill>
                  <a:srgbClr val="1E53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Compliance Contínuo e Segurança Autônoma para 2028-2029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572250" y="3167955"/>
            <a:ext cx="5303520" cy="310896"/>
          </a:xfrm>
          <a:prstGeom prst="rect">
            <a:avLst/>
          </a:prstGeom>
          <a:noFill/>
          <a:ln/>
        </p:spPr>
        <p:txBody>
          <a:bodyPr vert="horz" wrap="none" lIns="0" tIns="0" rIns="381000" bIns="0" rtlCol="0" anchor="t">
            <a:normAutofit/>
          </a:bodyPr>
          <a:lstStyle/>
          <a:p>
            <a:pPr marL="0" indent="0" algn="l">
              <a:lnSpc>
                <a:spcPts val="2145"/>
              </a:lnSpc>
              <a:buNone/>
            </a:pPr>
            <a:r>
              <a:rPr lang="en-US" sz="1650" b="1" dirty="0">
                <a:solidFill>
                  <a:srgbClr val="122A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Monitoramento e IA Avançada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6572250" y="3537496"/>
            <a:ext cx="5184648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25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Estabelecimento de compliance contínuo com alertas em tempo real. Implementação de IA para análise autônoma de evidências e identificação proativa de gaps de governança.</a:t>
            </a:r>
            <a:endParaRPr lang="en-US" sz="1125" dirty="0"/>
          </a:p>
        </p:txBody>
      </p:sp>
      <p:sp>
        <p:nvSpPr>
          <p:cNvPr id="11" name="Text 8"/>
          <p:cNvSpPr/>
          <p:nvPr/>
        </p:nvSpPr>
        <p:spPr>
          <a:xfrm>
            <a:off x="6572250" y="4602361"/>
            <a:ext cx="5303520" cy="310896"/>
          </a:xfrm>
          <a:prstGeom prst="rect">
            <a:avLst/>
          </a:prstGeom>
          <a:noFill/>
          <a:ln/>
        </p:spPr>
        <p:txBody>
          <a:bodyPr vert="horz" wrap="none" lIns="0" tIns="0" rIns="381000" bIns="0" rtlCol="0" anchor="t">
            <a:normAutofit/>
          </a:bodyPr>
          <a:lstStyle/>
          <a:p>
            <a:pPr marL="0" indent="0" algn="l">
              <a:lnSpc>
                <a:spcPts val="2145"/>
              </a:lnSpc>
              <a:buNone/>
            </a:pPr>
            <a:r>
              <a:rPr lang="en-US" sz="1650" b="1" dirty="0">
                <a:solidFill>
                  <a:srgbClr val="30736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Gestão Preditiva de Riscos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6572250" y="4971901"/>
            <a:ext cx="5184648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25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Plataforma com sugestões inteligentes de controles e relatórios preditivos para antecipar riscos cibernéticos, consolidando um ecossistema de segurança altamente eficiente.</a:t>
            </a:r>
            <a:endParaRPr lang="en-US" sz="1125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000750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-1143000" y="190500"/>
            <a:ext cx="6477000" cy="6477000"/>
          </a:xfrm>
          <a:prstGeom prst="roundRect">
            <a:avLst>
              <a:gd name="adj" fmla="val 141176"/>
            </a:avLst>
          </a:prstGeom>
          <a:noFill/>
          <a:ln w="9525">
            <a:solidFill>
              <a:srgbClr val="1E5359">
                <a:alpha val="3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-285750" y="1047750"/>
            <a:ext cx="4762500" cy="4762500"/>
          </a:xfrm>
          <a:prstGeom prst="roundRect">
            <a:avLst>
              <a:gd name="adj" fmla="val 192000"/>
            </a:avLst>
          </a:prstGeom>
          <a:noFill/>
          <a:ln w="9525">
            <a:solidFill>
              <a:srgbClr val="1E5359">
                <a:alpha val="2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76250" y="1809750"/>
            <a:ext cx="3238500" cy="3238500"/>
          </a:xfrm>
          <a:prstGeom prst="roundRect">
            <a:avLst>
              <a:gd name="adj" fmla="val 282353"/>
            </a:avLst>
          </a:prstGeom>
          <a:solidFill>
            <a:srgbClr val="30736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31961" y="2743200"/>
            <a:ext cx="2587752" cy="32004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F2F2F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Meta Principal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57250" y="3143250"/>
            <a:ext cx="2514600" cy="4023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050" dirty="0">
                <a:solidFill>
                  <a:srgbClr val="F2F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 a maior referência em GRC no Brasil.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32152" y="3600450"/>
            <a:ext cx="2560320" cy="2286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050" dirty="0">
                <a:solidFill>
                  <a:srgbClr val="F2F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Excelência em gestão e governança.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32152" y="3857625"/>
            <a:ext cx="2560320" cy="2286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050" dirty="0">
                <a:solidFill>
                  <a:srgbClr val="F2F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Inovação em conformidade contínua.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715000" y="857250"/>
            <a:ext cx="5925312" cy="54864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3420"/>
              </a:lnSpc>
              <a:buNone/>
            </a:pPr>
            <a:r>
              <a:rPr lang="en-US" sz="2850" b="1" dirty="0">
                <a:solidFill>
                  <a:srgbClr val="122A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Visão de Longo Prazo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5715000" y="1428750"/>
            <a:ext cx="5879592" cy="2651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kern="0" spc="30" dirty="0">
                <a:solidFill>
                  <a:srgbClr val="1E53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Code_Assessment: Gestão de Segurança da Informação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715000" y="1944960"/>
            <a:ext cx="5760720" cy="82296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200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MRS Consultoria está transformando a segurança da informação, focando em elevar o patamar de governança corporativa no mercado brasileiro através de tecnologia e conformidade robusta.</a:t>
            </a:r>
            <a:endParaRPr lang="en-US" sz="1200" dirty="0"/>
          </a:p>
        </p:txBody>
      </p:sp>
      <p:pic>
        <p:nvPicPr>
          <p:cNvPr id="13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15000" y="3437483"/>
            <a:ext cx="523875" cy="523875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477000" y="3242221"/>
            <a:ext cx="5111496" cy="34747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22A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Roadmap Estratégico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477000" y="3649414"/>
            <a:ext cx="5093208" cy="24688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2026-27: Assessment, Accountability e Expansão GRC.</a:t>
            </a:r>
            <a:endParaRPr lang="en-US" sz="1125" dirty="0"/>
          </a:p>
        </p:txBody>
      </p:sp>
      <p:sp>
        <p:nvSpPr>
          <p:cNvPr id="16" name="Text 13"/>
          <p:cNvSpPr/>
          <p:nvPr/>
        </p:nvSpPr>
        <p:spPr>
          <a:xfrm>
            <a:off x="6477000" y="3901827"/>
            <a:ext cx="5093208" cy="24688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dirty="0">
                <a:solidFill>
                  <a:srgbClr val="122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2028-29: Conformidade Contínua e IA Avançada.</a:t>
            </a:r>
            <a:endParaRPr lang="en-US" sz="11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3982</Words>
  <Application>Microsoft Office PowerPoint</Application>
  <PresentationFormat>Widescreen</PresentationFormat>
  <Paragraphs>559</Paragraphs>
  <Slides>42</Slides>
  <Notes>42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42</vt:i4>
      </vt:variant>
    </vt:vector>
  </HeadingPairs>
  <TitlesOfParts>
    <vt:vector size="49" baseType="lpstr">
      <vt:lpstr>Arial</vt:lpstr>
      <vt:lpstr>Noto Sans</vt:lpstr>
      <vt:lpstr>Calibri</vt:lpstr>
      <vt:lpstr>Calibri Light</vt:lpstr>
      <vt:lpstr>Inter</vt:lpstr>
      <vt:lpstr>Office Theme</vt:lpstr>
      <vt:lpstr>1_Office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百度文库 v1.0.0</dc:creator>
  <cp:lastModifiedBy>Marcio Roberto de Souza</cp:lastModifiedBy>
  <cp:revision>2</cp:revision>
  <dcterms:created xsi:type="dcterms:W3CDTF">2026-07-27T19:51:23Z</dcterms:created>
  <dcterms:modified xsi:type="dcterms:W3CDTF">2026-07-27T22:15:13Z</dcterms:modified>
</cp:coreProperties>
</file>